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2" r:id="rId4"/>
  </p:sldMasterIdLst>
  <p:notesMasterIdLst>
    <p:notesMasterId r:id="rId33"/>
  </p:notesMasterIdLst>
  <p:sldIdLst>
    <p:sldId id="256" r:id="rId5"/>
    <p:sldId id="257" r:id="rId6"/>
    <p:sldId id="258" r:id="rId7"/>
    <p:sldId id="259" r:id="rId8"/>
    <p:sldId id="260" r:id="rId9"/>
    <p:sldId id="261" r:id="rId10"/>
    <p:sldId id="262" r:id="rId11"/>
    <p:sldId id="263" r:id="rId12"/>
    <p:sldId id="265" r:id="rId13"/>
    <p:sldId id="264" r:id="rId14"/>
    <p:sldId id="266" r:id="rId15"/>
    <p:sldId id="267" r:id="rId16"/>
    <p:sldId id="268" r:id="rId17"/>
    <p:sldId id="269" r:id="rId18"/>
    <p:sldId id="270" r:id="rId19"/>
    <p:sldId id="271" r:id="rId20"/>
    <p:sldId id="272" r:id="rId21"/>
    <p:sldId id="277" r:id="rId22"/>
    <p:sldId id="273" r:id="rId23"/>
    <p:sldId id="274" r:id="rId24"/>
    <p:sldId id="278" r:id="rId25"/>
    <p:sldId id="279" r:id="rId26"/>
    <p:sldId id="280" r:id="rId27"/>
    <p:sldId id="283" r:id="rId28"/>
    <p:sldId id="281" r:id="rId29"/>
    <p:sldId id="282" r:id="rId30"/>
    <p:sldId id="284" r:id="rId31"/>
    <p:sldId id="285"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7747F7-812E-4C14-A359-0C78D8C32B4E}" v="220" dt="2025-12-17T19:04:00.7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5" autoAdjust="0"/>
    <p:restoredTop sz="94660"/>
  </p:normalViewPr>
  <p:slideViewPr>
    <p:cSldViewPr snapToGrid="0">
      <p:cViewPr varScale="1">
        <p:scale>
          <a:sx n="140" d="100"/>
          <a:sy n="140" d="100"/>
        </p:scale>
        <p:origin x="14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diagrams/_rels/drawing2.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EACC67-8C81-4A7B-A81C-5F1004766A80}"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F127D431-971A-4729-990A-ECA85CA63D9A}">
      <dgm:prSet/>
      <dgm:spPr/>
      <dgm:t>
        <a:bodyPr/>
        <a:lstStyle/>
        <a:p>
          <a:pPr>
            <a:lnSpc>
              <a:spcPct val="100000"/>
            </a:lnSpc>
          </a:pPr>
          <a:r>
            <a:rPr lang="zh-TW" dirty="0"/>
            <a:t>甲 購買的人壽保險 分為</a:t>
          </a:r>
          <a:r>
            <a:rPr lang="zh-TW" altLang="en-US" dirty="0"/>
            <a:t>三</a:t>
          </a:r>
          <a:r>
            <a:rPr lang="zh-TW" dirty="0"/>
            <a:t>部分</a:t>
          </a:r>
          <a:endParaRPr lang="en-US" dirty="0"/>
        </a:p>
      </dgm:t>
    </dgm:pt>
    <dgm:pt modelId="{258D2706-C071-4C2A-9D3A-E9CA1CB2E85F}" type="parTrans" cxnId="{79B9BEDE-D351-4C89-B8B1-6AC234AA4664}">
      <dgm:prSet/>
      <dgm:spPr/>
      <dgm:t>
        <a:bodyPr/>
        <a:lstStyle/>
        <a:p>
          <a:endParaRPr lang="en-US"/>
        </a:p>
      </dgm:t>
    </dgm:pt>
    <dgm:pt modelId="{12759BE7-4877-4AE8-837F-8A54B8655DDE}" type="sibTrans" cxnId="{79B9BEDE-D351-4C89-B8B1-6AC234AA4664}">
      <dgm:prSet/>
      <dgm:spPr/>
      <dgm:t>
        <a:bodyPr/>
        <a:lstStyle/>
        <a:p>
          <a:endParaRPr lang="en-US"/>
        </a:p>
      </dgm:t>
    </dgm:pt>
    <dgm:pt modelId="{EE44160A-9A1B-4DF7-8933-B83F7907DDEC}">
      <dgm:prSet/>
      <dgm:spPr/>
      <dgm:t>
        <a:bodyPr/>
        <a:lstStyle/>
        <a:p>
          <a:pPr>
            <a:lnSpc>
              <a:spcPct val="100000"/>
            </a:lnSpc>
          </a:pPr>
          <a:r>
            <a:rPr lang="en-US" altLang="zh-TW" dirty="0"/>
            <a:t>A:</a:t>
          </a:r>
          <a:r>
            <a:rPr lang="zh-TW" dirty="0"/>
            <a:t>基本保額</a:t>
          </a:r>
          <a:r>
            <a:rPr lang="en-US" dirty="0"/>
            <a:t>300</a:t>
          </a:r>
          <a:r>
            <a:rPr lang="zh-TW" dirty="0"/>
            <a:t>萬元 </a:t>
          </a:r>
          <a:endParaRPr lang="en-US" dirty="0"/>
        </a:p>
      </dgm:t>
    </dgm:pt>
    <dgm:pt modelId="{937F263B-49CD-4255-8C14-97A9FF7313B1}" type="parTrans" cxnId="{0E2B0C27-7BDA-455E-8B08-9DA7ABB3F068}">
      <dgm:prSet/>
      <dgm:spPr/>
      <dgm:t>
        <a:bodyPr/>
        <a:lstStyle/>
        <a:p>
          <a:endParaRPr lang="en-US"/>
        </a:p>
      </dgm:t>
    </dgm:pt>
    <dgm:pt modelId="{1A109A50-5C37-431C-8B00-5536FF65E083}" type="sibTrans" cxnId="{0E2B0C27-7BDA-455E-8B08-9DA7ABB3F068}">
      <dgm:prSet/>
      <dgm:spPr/>
      <dgm:t>
        <a:bodyPr/>
        <a:lstStyle/>
        <a:p>
          <a:endParaRPr lang="en-US"/>
        </a:p>
      </dgm:t>
    </dgm:pt>
    <dgm:pt modelId="{7E566529-B296-4EF3-B682-32177C8262B0}">
      <dgm:prSet/>
      <dgm:spPr/>
      <dgm:t>
        <a:bodyPr/>
        <a:lstStyle/>
        <a:p>
          <a:pPr>
            <a:lnSpc>
              <a:spcPct val="100000"/>
            </a:lnSpc>
          </a:pPr>
          <a:r>
            <a:rPr lang="en-US" altLang="zh-TW" dirty="0"/>
            <a:t>B:</a:t>
          </a:r>
          <a:r>
            <a:rPr lang="zh-TW" altLang="en-US" dirty="0"/>
            <a:t>每年</a:t>
          </a:r>
          <a:r>
            <a:rPr lang="zh-TW" dirty="0"/>
            <a:t>單利增值部分</a:t>
          </a:r>
          <a:r>
            <a:rPr lang="en-US" dirty="0"/>
            <a:t>10%</a:t>
          </a:r>
        </a:p>
      </dgm:t>
    </dgm:pt>
    <dgm:pt modelId="{F2B04F9B-C171-4766-8EA7-E1CA956C472C}" type="parTrans" cxnId="{DD24ED38-9844-40DA-8E1B-4AB975671F37}">
      <dgm:prSet/>
      <dgm:spPr/>
      <dgm:t>
        <a:bodyPr/>
        <a:lstStyle/>
        <a:p>
          <a:endParaRPr lang="en-US"/>
        </a:p>
      </dgm:t>
    </dgm:pt>
    <dgm:pt modelId="{95278F80-3664-4174-972C-16FAE963358F}" type="sibTrans" cxnId="{DD24ED38-9844-40DA-8E1B-4AB975671F37}">
      <dgm:prSet/>
      <dgm:spPr/>
      <dgm:t>
        <a:bodyPr/>
        <a:lstStyle/>
        <a:p>
          <a:endParaRPr lang="en-US"/>
        </a:p>
      </dgm:t>
    </dgm:pt>
    <dgm:pt modelId="{35B6DCEE-982F-4BF5-8911-C54EB73BF831}">
      <dgm:prSet/>
      <dgm:spPr/>
      <dgm:t>
        <a:bodyPr/>
        <a:lstStyle/>
        <a:p>
          <a:pPr>
            <a:lnSpc>
              <a:spcPct val="100000"/>
            </a:lnSpc>
          </a:pPr>
          <a:r>
            <a:rPr lang="en-US" altLang="zh-TW" dirty="0"/>
            <a:t>C:</a:t>
          </a:r>
          <a:r>
            <a:rPr lang="zh-TW" altLang="en-US" dirty="0"/>
            <a:t>每年</a:t>
          </a:r>
          <a:r>
            <a:rPr lang="zh-TW" dirty="0"/>
            <a:t>複利增值部分</a:t>
          </a:r>
          <a:r>
            <a:rPr lang="en-US" dirty="0"/>
            <a:t>5%</a:t>
          </a:r>
        </a:p>
      </dgm:t>
    </dgm:pt>
    <dgm:pt modelId="{46A4F691-17D8-49B0-B75A-608E897D1A7D}" type="parTrans" cxnId="{1C9A0B3E-092D-4F9B-BE11-A0DD040ADAAA}">
      <dgm:prSet/>
      <dgm:spPr/>
      <dgm:t>
        <a:bodyPr/>
        <a:lstStyle/>
        <a:p>
          <a:endParaRPr lang="en-US"/>
        </a:p>
      </dgm:t>
    </dgm:pt>
    <dgm:pt modelId="{FE0CFF21-B42C-43DA-9307-F3DBDB1BA52A}" type="sibTrans" cxnId="{1C9A0B3E-092D-4F9B-BE11-A0DD040ADAAA}">
      <dgm:prSet/>
      <dgm:spPr/>
      <dgm:t>
        <a:bodyPr/>
        <a:lstStyle/>
        <a:p>
          <a:endParaRPr lang="en-US"/>
        </a:p>
      </dgm:t>
    </dgm:pt>
    <dgm:pt modelId="{4C473DDD-97DA-4A6D-B8C3-A3A5799A8B98}" type="pres">
      <dgm:prSet presAssocID="{85EACC67-8C81-4A7B-A81C-5F1004766A80}" presName="linear" presStyleCnt="0">
        <dgm:presLayoutVars>
          <dgm:animLvl val="lvl"/>
          <dgm:resizeHandles val="exact"/>
        </dgm:presLayoutVars>
      </dgm:prSet>
      <dgm:spPr/>
    </dgm:pt>
    <dgm:pt modelId="{ED24BDFB-2863-4B55-8094-FBE3F1925EA6}" type="pres">
      <dgm:prSet presAssocID="{F127D431-971A-4729-990A-ECA85CA63D9A}" presName="parentText" presStyleLbl="node1" presStyleIdx="0" presStyleCnt="4">
        <dgm:presLayoutVars>
          <dgm:chMax val="0"/>
          <dgm:bulletEnabled val="1"/>
        </dgm:presLayoutVars>
      </dgm:prSet>
      <dgm:spPr/>
    </dgm:pt>
    <dgm:pt modelId="{C8A5AF57-5BF0-4E30-92CC-69EC74078400}" type="pres">
      <dgm:prSet presAssocID="{12759BE7-4877-4AE8-837F-8A54B8655DDE}" presName="spacer" presStyleCnt="0"/>
      <dgm:spPr/>
    </dgm:pt>
    <dgm:pt modelId="{B96334CE-4783-4543-A79C-2E4C24CC12A8}" type="pres">
      <dgm:prSet presAssocID="{EE44160A-9A1B-4DF7-8933-B83F7907DDEC}" presName="parentText" presStyleLbl="node1" presStyleIdx="1" presStyleCnt="4">
        <dgm:presLayoutVars>
          <dgm:chMax val="0"/>
          <dgm:bulletEnabled val="1"/>
        </dgm:presLayoutVars>
      </dgm:prSet>
      <dgm:spPr/>
    </dgm:pt>
    <dgm:pt modelId="{75435CB9-D16A-4763-A17D-951EB341579A}" type="pres">
      <dgm:prSet presAssocID="{1A109A50-5C37-431C-8B00-5536FF65E083}" presName="spacer" presStyleCnt="0"/>
      <dgm:spPr/>
    </dgm:pt>
    <dgm:pt modelId="{AC4014CA-2095-4D75-8CDF-8B01B94FC785}" type="pres">
      <dgm:prSet presAssocID="{7E566529-B296-4EF3-B682-32177C8262B0}" presName="parentText" presStyleLbl="node1" presStyleIdx="2" presStyleCnt="4">
        <dgm:presLayoutVars>
          <dgm:chMax val="0"/>
          <dgm:bulletEnabled val="1"/>
        </dgm:presLayoutVars>
      </dgm:prSet>
      <dgm:spPr/>
    </dgm:pt>
    <dgm:pt modelId="{D203FE11-19EC-473A-B5DE-F9A91595C9D3}" type="pres">
      <dgm:prSet presAssocID="{95278F80-3664-4174-972C-16FAE963358F}" presName="spacer" presStyleCnt="0"/>
      <dgm:spPr/>
    </dgm:pt>
    <dgm:pt modelId="{28A66A1A-7A1A-4C83-9FD4-5E272862B15A}" type="pres">
      <dgm:prSet presAssocID="{35B6DCEE-982F-4BF5-8911-C54EB73BF831}" presName="parentText" presStyleLbl="node1" presStyleIdx="3" presStyleCnt="4">
        <dgm:presLayoutVars>
          <dgm:chMax val="0"/>
          <dgm:bulletEnabled val="1"/>
        </dgm:presLayoutVars>
      </dgm:prSet>
      <dgm:spPr/>
    </dgm:pt>
  </dgm:ptLst>
  <dgm:cxnLst>
    <dgm:cxn modelId="{0E2B0C27-7BDA-455E-8B08-9DA7ABB3F068}" srcId="{85EACC67-8C81-4A7B-A81C-5F1004766A80}" destId="{EE44160A-9A1B-4DF7-8933-B83F7907DDEC}" srcOrd="1" destOrd="0" parTransId="{937F263B-49CD-4255-8C14-97A9FF7313B1}" sibTransId="{1A109A50-5C37-431C-8B00-5536FF65E083}"/>
    <dgm:cxn modelId="{6D7EA037-391C-469B-9855-F449A3DEA707}" type="presOf" srcId="{85EACC67-8C81-4A7B-A81C-5F1004766A80}" destId="{4C473DDD-97DA-4A6D-B8C3-A3A5799A8B98}" srcOrd="0" destOrd="0" presId="urn:microsoft.com/office/officeart/2005/8/layout/vList2"/>
    <dgm:cxn modelId="{DD24ED38-9844-40DA-8E1B-4AB975671F37}" srcId="{85EACC67-8C81-4A7B-A81C-5F1004766A80}" destId="{7E566529-B296-4EF3-B682-32177C8262B0}" srcOrd="2" destOrd="0" parTransId="{F2B04F9B-C171-4766-8EA7-E1CA956C472C}" sibTransId="{95278F80-3664-4174-972C-16FAE963358F}"/>
    <dgm:cxn modelId="{1C9A0B3E-092D-4F9B-BE11-A0DD040ADAAA}" srcId="{85EACC67-8C81-4A7B-A81C-5F1004766A80}" destId="{35B6DCEE-982F-4BF5-8911-C54EB73BF831}" srcOrd="3" destOrd="0" parTransId="{46A4F691-17D8-49B0-B75A-608E897D1A7D}" sibTransId="{FE0CFF21-B42C-43DA-9307-F3DBDB1BA52A}"/>
    <dgm:cxn modelId="{37F32952-CFDA-4B4C-A763-6FB71038ED68}" type="presOf" srcId="{35B6DCEE-982F-4BF5-8911-C54EB73BF831}" destId="{28A66A1A-7A1A-4C83-9FD4-5E272862B15A}" srcOrd="0" destOrd="0" presId="urn:microsoft.com/office/officeart/2005/8/layout/vList2"/>
    <dgm:cxn modelId="{CA859D72-FA8E-4F5D-B2BB-E231CD450CE9}" type="presOf" srcId="{EE44160A-9A1B-4DF7-8933-B83F7907DDEC}" destId="{B96334CE-4783-4543-A79C-2E4C24CC12A8}" srcOrd="0" destOrd="0" presId="urn:microsoft.com/office/officeart/2005/8/layout/vList2"/>
    <dgm:cxn modelId="{CAF12857-BE4D-4A0C-8C5B-C0F8BEFA0102}" type="presOf" srcId="{F127D431-971A-4729-990A-ECA85CA63D9A}" destId="{ED24BDFB-2863-4B55-8094-FBE3F1925EA6}" srcOrd="0" destOrd="0" presId="urn:microsoft.com/office/officeart/2005/8/layout/vList2"/>
    <dgm:cxn modelId="{B820ADCF-34DA-4C95-A295-FAD118C9155E}" type="presOf" srcId="{7E566529-B296-4EF3-B682-32177C8262B0}" destId="{AC4014CA-2095-4D75-8CDF-8B01B94FC785}" srcOrd="0" destOrd="0" presId="urn:microsoft.com/office/officeart/2005/8/layout/vList2"/>
    <dgm:cxn modelId="{79B9BEDE-D351-4C89-B8B1-6AC234AA4664}" srcId="{85EACC67-8C81-4A7B-A81C-5F1004766A80}" destId="{F127D431-971A-4729-990A-ECA85CA63D9A}" srcOrd="0" destOrd="0" parTransId="{258D2706-C071-4C2A-9D3A-E9CA1CB2E85F}" sibTransId="{12759BE7-4877-4AE8-837F-8A54B8655DDE}"/>
    <dgm:cxn modelId="{1280BBFF-FC0A-467B-A3B9-E161C33BBD52}" type="presParOf" srcId="{4C473DDD-97DA-4A6D-B8C3-A3A5799A8B98}" destId="{ED24BDFB-2863-4B55-8094-FBE3F1925EA6}" srcOrd="0" destOrd="0" presId="urn:microsoft.com/office/officeart/2005/8/layout/vList2"/>
    <dgm:cxn modelId="{7658E846-62A6-4E31-9479-71011739C2E8}" type="presParOf" srcId="{4C473DDD-97DA-4A6D-B8C3-A3A5799A8B98}" destId="{C8A5AF57-5BF0-4E30-92CC-69EC74078400}" srcOrd="1" destOrd="0" presId="urn:microsoft.com/office/officeart/2005/8/layout/vList2"/>
    <dgm:cxn modelId="{F9638042-F70C-4717-9765-94C174A6113F}" type="presParOf" srcId="{4C473DDD-97DA-4A6D-B8C3-A3A5799A8B98}" destId="{B96334CE-4783-4543-A79C-2E4C24CC12A8}" srcOrd="2" destOrd="0" presId="urn:microsoft.com/office/officeart/2005/8/layout/vList2"/>
    <dgm:cxn modelId="{DC817BB9-DD6A-449A-9C39-CCC46949DAF7}" type="presParOf" srcId="{4C473DDD-97DA-4A6D-B8C3-A3A5799A8B98}" destId="{75435CB9-D16A-4763-A17D-951EB341579A}" srcOrd="3" destOrd="0" presId="urn:microsoft.com/office/officeart/2005/8/layout/vList2"/>
    <dgm:cxn modelId="{E7384A67-30C4-45D7-B2C6-CC6618C002E8}" type="presParOf" srcId="{4C473DDD-97DA-4A6D-B8C3-A3A5799A8B98}" destId="{AC4014CA-2095-4D75-8CDF-8B01B94FC785}" srcOrd="4" destOrd="0" presId="urn:microsoft.com/office/officeart/2005/8/layout/vList2"/>
    <dgm:cxn modelId="{1E897183-F5F8-4BF5-B145-5769303460B2}" type="presParOf" srcId="{4C473DDD-97DA-4A6D-B8C3-A3A5799A8B98}" destId="{D203FE11-19EC-473A-B5DE-F9A91595C9D3}" srcOrd="5" destOrd="0" presId="urn:microsoft.com/office/officeart/2005/8/layout/vList2"/>
    <dgm:cxn modelId="{93B7F6A6-4CF3-44F8-8AC8-6782F12F11FE}" type="presParOf" srcId="{4C473DDD-97DA-4A6D-B8C3-A3A5799A8B98}" destId="{28A66A1A-7A1A-4C83-9FD4-5E272862B15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164208-C0A6-4C91-B578-FCBDD21A9174}"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8C655D62-06FE-4C7A-AAF5-5277D2E7419C}">
      <dgm:prSet/>
      <dgm:spPr/>
      <dgm:t>
        <a:bodyPr/>
        <a:lstStyle/>
        <a:p>
          <a:r>
            <a:rPr lang="zh-TW" b="1">
              <a:latin typeface="+mn-ea"/>
              <a:ea typeface="+mn-ea"/>
            </a:rPr>
            <a:t>一、本件中，甲投保系爭保險後，於甲死亡乙等繼承人請領死亡保險金，是否可被認為構成稅捐規避</a:t>
          </a:r>
          <a:r>
            <a:rPr lang="en-US" b="1">
              <a:latin typeface="+mn-ea"/>
              <a:ea typeface="+mn-ea"/>
            </a:rPr>
            <a:t>?</a:t>
          </a:r>
          <a:r>
            <a:rPr lang="zh-TW" b="1">
              <a:latin typeface="+mn-ea"/>
              <a:ea typeface="+mn-ea"/>
            </a:rPr>
            <a:t>財政部臺灣省中區國稅局所做出的核課處分是否合法</a:t>
          </a:r>
          <a:r>
            <a:rPr lang="en-US" b="1">
              <a:latin typeface="+mn-ea"/>
              <a:ea typeface="+mn-ea"/>
            </a:rPr>
            <a:t>?</a:t>
          </a:r>
          <a:endParaRPr lang="en-US">
            <a:latin typeface="+mn-ea"/>
            <a:ea typeface="+mn-ea"/>
          </a:endParaRPr>
        </a:p>
      </dgm:t>
    </dgm:pt>
    <dgm:pt modelId="{DBE31F0F-4C42-439D-8465-0C2D2B8CE7FD}" type="parTrans" cxnId="{0EDA95A6-0502-41FA-8068-B0DAA1E4B7DE}">
      <dgm:prSet/>
      <dgm:spPr/>
      <dgm:t>
        <a:bodyPr/>
        <a:lstStyle/>
        <a:p>
          <a:endParaRPr lang="en-US"/>
        </a:p>
      </dgm:t>
    </dgm:pt>
    <dgm:pt modelId="{93731118-2BBA-4662-B265-9F6FF588C673}" type="sibTrans" cxnId="{0EDA95A6-0502-41FA-8068-B0DAA1E4B7DE}">
      <dgm:prSet/>
      <dgm:spPr/>
      <dgm:t>
        <a:bodyPr/>
        <a:lstStyle/>
        <a:p>
          <a:endParaRPr lang="en-US"/>
        </a:p>
      </dgm:t>
    </dgm:pt>
    <dgm:pt modelId="{7F5A69EE-8300-4D01-8F41-C0AB0E7E307E}">
      <dgm:prSet/>
      <dgm:spPr/>
      <dgm:t>
        <a:bodyPr/>
        <a:lstStyle/>
        <a:p>
          <a:r>
            <a:rPr lang="zh-TW" b="1" dirty="0">
              <a:latin typeface="+mn-ea"/>
              <a:ea typeface="+mn-ea"/>
            </a:rPr>
            <a:t>二、本件依照遺產及贈與稅法</a:t>
          </a:r>
          <a:r>
            <a:rPr lang="en-US" b="1" dirty="0">
              <a:latin typeface="+mn-ea"/>
              <a:ea typeface="+mn-ea"/>
            </a:rPr>
            <a:t>16</a:t>
          </a:r>
          <a:r>
            <a:rPr lang="zh-TW" b="1" dirty="0">
              <a:latin typeface="+mn-ea"/>
              <a:ea typeface="+mn-ea"/>
            </a:rPr>
            <a:t>條</a:t>
          </a:r>
          <a:r>
            <a:rPr lang="en-US" b="1" dirty="0">
              <a:latin typeface="+mn-ea"/>
              <a:ea typeface="+mn-ea"/>
            </a:rPr>
            <a:t>9</a:t>
          </a:r>
          <a:r>
            <a:rPr lang="zh-TW" b="1" dirty="0">
              <a:latin typeface="+mn-ea"/>
              <a:ea typeface="+mn-ea"/>
            </a:rPr>
            <a:t>款之規定，不計入遺產總額之保險給付金額應為多少始為正確</a:t>
          </a:r>
          <a:r>
            <a:rPr lang="en-US" b="1" dirty="0">
              <a:latin typeface="+mn-ea"/>
              <a:ea typeface="+mn-ea"/>
            </a:rPr>
            <a:t>? </a:t>
          </a:r>
          <a:endParaRPr lang="en-US" dirty="0">
            <a:latin typeface="+mn-ea"/>
            <a:ea typeface="+mn-ea"/>
          </a:endParaRPr>
        </a:p>
      </dgm:t>
    </dgm:pt>
    <dgm:pt modelId="{0B7C9754-DA21-4036-A329-6046D2CD3A27}" type="parTrans" cxnId="{2F69DADE-B9ED-43C7-8737-5472DE63CD19}">
      <dgm:prSet/>
      <dgm:spPr/>
      <dgm:t>
        <a:bodyPr/>
        <a:lstStyle/>
        <a:p>
          <a:endParaRPr lang="en-US"/>
        </a:p>
      </dgm:t>
    </dgm:pt>
    <dgm:pt modelId="{4191FDA9-BBBD-4954-BE85-56272F786FC5}" type="sibTrans" cxnId="{2F69DADE-B9ED-43C7-8737-5472DE63CD19}">
      <dgm:prSet/>
      <dgm:spPr/>
      <dgm:t>
        <a:bodyPr/>
        <a:lstStyle/>
        <a:p>
          <a:endParaRPr lang="en-US"/>
        </a:p>
      </dgm:t>
    </dgm:pt>
    <dgm:pt modelId="{A54B9F26-5931-451A-8F6A-AC38BE2A0D1A}" type="pres">
      <dgm:prSet presAssocID="{8C164208-C0A6-4C91-B578-FCBDD21A9174}" presName="linear" presStyleCnt="0">
        <dgm:presLayoutVars>
          <dgm:animLvl val="lvl"/>
          <dgm:resizeHandles val="exact"/>
        </dgm:presLayoutVars>
      </dgm:prSet>
      <dgm:spPr/>
    </dgm:pt>
    <dgm:pt modelId="{4640E203-8F70-4E58-B001-36005BA7E7E0}" type="pres">
      <dgm:prSet presAssocID="{8C655D62-06FE-4C7A-AAF5-5277D2E7419C}" presName="parentText" presStyleLbl="node1" presStyleIdx="0" presStyleCnt="2">
        <dgm:presLayoutVars>
          <dgm:chMax val="0"/>
          <dgm:bulletEnabled val="1"/>
        </dgm:presLayoutVars>
      </dgm:prSet>
      <dgm:spPr/>
    </dgm:pt>
    <dgm:pt modelId="{D5ADFAE7-A4F6-40AC-AF0F-B7C34A291461}" type="pres">
      <dgm:prSet presAssocID="{93731118-2BBA-4662-B265-9F6FF588C673}" presName="spacer" presStyleCnt="0"/>
      <dgm:spPr/>
    </dgm:pt>
    <dgm:pt modelId="{7E6C577E-5155-4A32-9B39-5068A296807B}" type="pres">
      <dgm:prSet presAssocID="{7F5A69EE-8300-4D01-8F41-C0AB0E7E307E}" presName="parentText" presStyleLbl="node1" presStyleIdx="1" presStyleCnt="2">
        <dgm:presLayoutVars>
          <dgm:chMax val="0"/>
          <dgm:bulletEnabled val="1"/>
        </dgm:presLayoutVars>
      </dgm:prSet>
      <dgm:spPr/>
    </dgm:pt>
  </dgm:ptLst>
  <dgm:cxnLst>
    <dgm:cxn modelId="{C422011E-F2E0-432C-91E9-6B1825942A89}" type="presOf" srcId="{8C164208-C0A6-4C91-B578-FCBDD21A9174}" destId="{A54B9F26-5931-451A-8F6A-AC38BE2A0D1A}" srcOrd="0" destOrd="0" presId="urn:microsoft.com/office/officeart/2005/8/layout/vList2"/>
    <dgm:cxn modelId="{458E7135-09D3-4C69-A814-2A97BD481A3E}" type="presOf" srcId="{7F5A69EE-8300-4D01-8F41-C0AB0E7E307E}" destId="{7E6C577E-5155-4A32-9B39-5068A296807B}" srcOrd="0" destOrd="0" presId="urn:microsoft.com/office/officeart/2005/8/layout/vList2"/>
    <dgm:cxn modelId="{0EDA95A6-0502-41FA-8068-B0DAA1E4B7DE}" srcId="{8C164208-C0A6-4C91-B578-FCBDD21A9174}" destId="{8C655D62-06FE-4C7A-AAF5-5277D2E7419C}" srcOrd="0" destOrd="0" parTransId="{DBE31F0F-4C42-439D-8465-0C2D2B8CE7FD}" sibTransId="{93731118-2BBA-4662-B265-9F6FF588C673}"/>
    <dgm:cxn modelId="{89C0B5BA-6A3C-45F9-859C-6E99F87D14D5}" type="presOf" srcId="{8C655D62-06FE-4C7A-AAF5-5277D2E7419C}" destId="{4640E203-8F70-4E58-B001-36005BA7E7E0}" srcOrd="0" destOrd="0" presId="urn:microsoft.com/office/officeart/2005/8/layout/vList2"/>
    <dgm:cxn modelId="{2F69DADE-B9ED-43C7-8737-5472DE63CD19}" srcId="{8C164208-C0A6-4C91-B578-FCBDD21A9174}" destId="{7F5A69EE-8300-4D01-8F41-C0AB0E7E307E}" srcOrd="1" destOrd="0" parTransId="{0B7C9754-DA21-4036-A329-6046D2CD3A27}" sibTransId="{4191FDA9-BBBD-4954-BE85-56272F786FC5}"/>
    <dgm:cxn modelId="{A80024C0-60AF-4C3C-9652-977D52233300}" type="presParOf" srcId="{A54B9F26-5931-451A-8F6A-AC38BE2A0D1A}" destId="{4640E203-8F70-4E58-B001-36005BA7E7E0}" srcOrd="0" destOrd="0" presId="urn:microsoft.com/office/officeart/2005/8/layout/vList2"/>
    <dgm:cxn modelId="{50113DF6-870A-45D8-AB06-59DCC743CA2F}" type="presParOf" srcId="{A54B9F26-5931-451A-8F6A-AC38BE2A0D1A}" destId="{D5ADFAE7-A4F6-40AC-AF0F-B7C34A291461}" srcOrd="1" destOrd="0" presId="urn:microsoft.com/office/officeart/2005/8/layout/vList2"/>
    <dgm:cxn modelId="{300EFB3B-F80A-45A0-953B-BD30DE6E6501}" type="presParOf" srcId="{A54B9F26-5931-451A-8F6A-AC38BE2A0D1A}" destId="{7E6C577E-5155-4A32-9B39-5068A296807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B5BD99-1166-4247-AABF-13EBB9B997D5}"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5F9B7A82-01B7-4C54-85DE-982FCDC9BB82}">
      <dgm:prSet/>
      <dgm:spPr/>
      <dgm:t>
        <a:bodyPr/>
        <a:lstStyle/>
        <a:p>
          <a:r>
            <a:rPr lang="zh-TW" dirty="0"/>
            <a:t>一、最高行政法院原則上支持高等法院的見解，認為系爭保險之增額給付部分應用實質課稅原則調整之，應併計遺產稅，但不構成稅捐規避</a:t>
          </a:r>
          <a:endParaRPr lang="en-US" dirty="0"/>
        </a:p>
      </dgm:t>
    </dgm:pt>
    <dgm:pt modelId="{DFA53152-B5DA-4D54-815D-AE8B373D8084}" type="parTrans" cxnId="{3B05818F-1850-4C3E-895F-DB898CA06FE2}">
      <dgm:prSet/>
      <dgm:spPr/>
      <dgm:t>
        <a:bodyPr/>
        <a:lstStyle/>
        <a:p>
          <a:endParaRPr lang="en-US"/>
        </a:p>
      </dgm:t>
    </dgm:pt>
    <dgm:pt modelId="{3648F2D1-D01E-49B1-8770-FABFE2B5FC10}" type="sibTrans" cxnId="{3B05818F-1850-4C3E-895F-DB898CA06FE2}">
      <dgm:prSet/>
      <dgm:spPr/>
      <dgm:t>
        <a:bodyPr/>
        <a:lstStyle/>
        <a:p>
          <a:endParaRPr lang="en-US"/>
        </a:p>
      </dgm:t>
    </dgm:pt>
    <dgm:pt modelId="{829BB4D2-793A-4198-B92B-ECB38719178C}">
      <dgm:prSet/>
      <dgm:spPr/>
      <dgm:t>
        <a:bodyPr/>
        <a:lstStyle/>
        <a:p>
          <a:r>
            <a:rPr lang="zh-TW"/>
            <a:t>二、本件中最高行政法院亦認為僅該主契約保險基本額之</a:t>
          </a:r>
          <a:r>
            <a:rPr lang="en-US"/>
            <a:t>300</a:t>
          </a:r>
          <a:r>
            <a:rPr lang="zh-TW"/>
            <a:t>萬元符合遺產及贈與稅法</a:t>
          </a:r>
          <a:r>
            <a:rPr lang="en-US"/>
            <a:t>16</a:t>
          </a:r>
          <a:r>
            <a:rPr lang="zh-TW"/>
            <a:t>條</a:t>
          </a:r>
          <a:r>
            <a:rPr lang="en-US"/>
            <a:t>9</a:t>
          </a:r>
          <a:r>
            <a:rPr lang="zh-TW"/>
            <a:t>款立法目的而不計入遺產總額</a:t>
          </a:r>
          <a:r>
            <a:rPr lang="en-US"/>
            <a:t> </a:t>
          </a:r>
        </a:p>
      </dgm:t>
    </dgm:pt>
    <dgm:pt modelId="{AAF98837-08D4-42E7-9A93-9A9AD028AA83}" type="parTrans" cxnId="{F93C2C5E-0329-4FBE-A93A-CE57CC29511B}">
      <dgm:prSet/>
      <dgm:spPr/>
      <dgm:t>
        <a:bodyPr/>
        <a:lstStyle/>
        <a:p>
          <a:endParaRPr lang="en-US"/>
        </a:p>
      </dgm:t>
    </dgm:pt>
    <dgm:pt modelId="{A46F1435-CF10-4177-A5A1-F8D776393679}" type="sibTrans" cxnId="{F93C2C5E-0329-4FBE-A93A-CE57CC29511B}">
      <dgm:prSet/>
      <dgm:spPr/>
      <dgm:t>
        <a:bodyPr/>
        <a:lstStyle/>
        <a:p>
          <a:endParaRPr lang="en-US"/>
        </a:p>
      </dgm:t>
    </dgm:pt>
    <dgm:pt modelId="{D23D7E4D-9A31-4904-8B14-6537113695D9}">
      <dgm:prSet/>
      <dgm:spPr/>
      <dgm:t>
        <a:bodyPr/>
        <a:lstStyle/>
        <a:p>
          <a:r>
            <a:rPr lang="zh-TW"/>
            <a:t>基本上支持台中高等行政法院之見解</a:t>
          </a:r>
          <a:endParaRPr lang="en-US"/>
        </a:p>
      </dgm:t>
    </dgm:pt>
    <dgm:pt modelId="{D8928AD7-CD45-4EAA-8199-A81654574166}" type="parTrans" cxnId="{99865ADE-92CA-45E0-B0F8-45108DA24415}">
      <dgm:prSet/>
      <dgm:spPr/>
      <dgm:t>
        <a:bodyPr/>
        <a:lstStyle/>
        <a:p>
          <a:endParaRPr lang="en-US"/>
        </a:p>
      </dgm:t>
    </dgm:pt>
    <dgm:pt modelId="{6A47A7D6-22BE-4DD1-8AA0-87E19817A454}" type="sibTrans" cxnId="{99865ADE-92CA-45E0-B0F8-45108DA24415}">
      <dgm:prSet/>
      <dgm:spPr/>
      <dgm:t>
        <a:bodyPr/>
        <a:lstStyle/>
        <a:p>
          <a:endParaRPr lang="en-US"/>
        </a:p>
      </dgm:t>
    </dgm:pt>
    <dgm:pt modelId="{D585BD96-4499-4A6C-AE76-4AB0076DE3E0}" type="pres">
      <dgm:prSet presAssocID="{4BB5BD99-1166-4247-AABF-13EBB9B997D5}" presName="outerComposite" presStyleCnt="0">
        <dgm:presLayoutVars>
          <dgm:chMax val="5"/>
          <dgm:dir/>
          <dgm:resizeHandles val="exact"/>
        </dgm:presLayoutVars>
      </dgm:prSet>
      <dgm:spPr/>
    </dgm:pt>
    <dgm:pt modelId="{19280BE1-9768-41CF-A62C-ABCD1548718D}" type="pres">
      <dgm:prSet presAssocID="{4BB5BD99-1166-4247-AABF-13EBB9B997D5}" presName="dummyMaxCanvas" presStyleCnt="0">
        <dgm:presLayoutVars/>
      </dgm:prSet>
      <dgm:spPr/>
    </dgm:pt>
    <dgm:pt modelId="{F60B9680-54F2-402B-BDF8-1271C4B92984}" type="pres">
      <dgm:prSet presAssocID="{4BB5BD99-1166-4247-AABF-13EBB9B997D5}" presName="ThreeNodes_1" presStyleLbl="node1" presStyleIdx="0" presStyleCnt="3">
        <dgm:presLayoutVars>
          <dgm:bulletEnabled val="1"/>
        </dgm:presLayoutVars>
      </dgm:prSet>
      <dgm:spPr/>
    </dgm:pt>
    <dgm:pt modelId="{36AFCC2F-DD9B-4274-A28C-5D78185BB690}" type="pres">
      <dgm:prSet presAssocID="{4BB5BD99-1166-4247-AABF-13EBB9B997D5}" presName="ThreeNodes_2" presStyleLbl="node1" presStyleIdx="1" presStyleCnt="3">
        <dgm:presLayoutVars>
          <dgm:bulletEnabled val="1"/>
        </dgm:presLayoutVars>
      </dgm:prSet>
      <dgm:spPr/>
    </dgm:pt>
    <dgm:pt modelId="{C7B3BFCB-71E0-4264-92BD-B5F1EBF4273A}" type="pres">
      <dgm:prSet presAssocID="{4BB5BD99-1166-4247-AABF-13EBB9B997D5}" presName="ThreeNodes_3" presStyleLbl="node1" presStyleIdx="2" presStyleCnt="3">
        <dgm:presLayoutVars>
          <dgm:bulletEnabled val="1"/>
        </dgm:presLayoutVars>
      </dgm:prSet>
      <dgm:spPr/>
    </dgm:pt>
    <dgm:pt modelId="{B1EF31AA-24C7-43B9-ACB5-890D13377AEF}" type="pres">
      <dgm:prSet presAssocID="{4BB5BD99-1166-4247-AABF-13EBB9B997D5}" presName="ThreeConn_1-2" presStyleLbl="fgAccFollowNode1" presStyleIdx="0" presStyleCnt="2">
        <dgm:presLayoutVars>
          <dgm:bulletEnabled val="1"/>
        </dgm:presLayoutVars>
      </dgm:prSet>
      <dgm:spPr/>
    </dgm:pt>
    <dgm:pt modelId="{9823BBE1-A355-47B0-BFE1-1AC583EC09C1}" type="pres">
      <dgm:prSet presAssocID="{4BB5BD99-1166-4247-AABF-13EBB9B997D5}" presName="ThreeConn_2-3" presStyleLbl="fgAccFollowNode1" presStyleIdx="1" presStyleCnt="2">
        <dgm:presLayoutVars>
          <dgm:bulletEnabled val="1"/>
        </dgm:presLayoutVars>
      </dgm:prSet>
      <dgm:spPr/>
    </dgm:pt>
    <dgm:pt modelId="{F8CBB04F-849B-4A4F-AA26-1E7C9E62B81A}" type="pres">
      <dgm:prSet presAssocID="{4BB5BD99-1166-4247-AABF-13EBB9B997D5}" presName="ThreeNodes_1_text" presStyleLbl="node1" presStyleIdx="2" presStyleCnt="3">
        <dgm:presLayoutVars>
          <dgm:bulletEnabled val="1"/>
        </dgm:presLayoutVars>
      </dgm:prSet>
      <dgm:spPr/>
    </dgm:pt>
    <dgm:pt modelId="{FA72B56D-B0B2-4078-B3B4-2C1765B96B4E}" type="pres">
      <dgm:prSet presAssocID="{4BB5BD99-1166-4247-AABF-13EBB9B997D5}" presName="ThreeNodes_2_text" presStyleLbl="node1" presStyleIdx="2" presStyleCnt="3">
        <dgm:presLayoutVars>
          <dgm:bulletEnabled val="1"/>
        </dgm:presLayoutVars>
      </dgm:prSet>
      <dgm:spPr/>
    </dgm:pt>
    <dgm:pt modelId="{04D66450-9C1F-4EFD-9754-E26DB5298F73}" type="pres">
      <dgm:prSet presAssocID="{4BB5BD99-1166-4247-AABF-13EBB9B997D5}" presName="ThreeNodes_3_text" presStyleLbl="node1" presStyleIdx="2" presStyleCnt="3">
        <dgm:presLayoutVars>
          <dgm:bulletEnabled val="1"/>
        </dgm:presLayoutVars>
      </dgm:prSet>
      <dgm:spPr/>
    </dgm:pt>
  </dgm:ptLst>
  <dgm:cxnLst>
    <dgm:cxn modelId="{ED31CB07-1C51-4278-929B-6D4E84E84A5F}" type="presOf" srcId="{4BB5BD99-1166-4247-AABF-13EBB9B997D5}" destId="{D585BD96-4499-4A6C-AE76-4AB0076DE3E0}" srcOrd="0" destOrd="0" presId="urn:microsoft.com/office/officeart/2005/8/layout/vProcess5"/>
    <dgm:cxn modelId="{7C411024-4E89-41F8-9150-F0F926C5D07B}" type="presOf" srcId="{A46F1435-CF10-4177-A5A1-F8D776393679}" destId="{9823BBE1-A355-47B0-BFE1-1AC583EC09C1}" srcOrd="0" destOrd="0" presId="urn:microsoft.com/office/officeart/2005/8/layout/vProcess5"/>
    <dgm:cxn modelId="{F93C2C5E-0329-4FBE-A93A-CE57CC29511B}" srcId="{4BB5BD99-1166-4247-AABF-13EBB9B997D5}" destId="{829BB4D2-793A-4198-B92B-ECB38719178C}" srcOrd="1" destOrd="0" parTransId="{AAF98837-08D4-42E7-9A93-9A9AD028AA83}" sibTransId="{A46F1435-CF10-4177-A5A1-F8D776393679}"/>
    <dgm:cxn modelId="{97DD4743-6617-40F7-9B7A-890CD40C4F66}" type="presOf" srcId="{5F9B7A82-01B7-4C54-85DE-982FCDC9BB82}" destId="{F8CBB04F-849B-4A4F-AA26-1E7C9E62B81A}" srcOrd="1" destOrd="0" presId="urn:microsoft.com/office/officeart/2005/8/layout/vProcess5"/>
    <dgm:cxn modelId="{08769551-72B9-4884-8D90-5779A5263134}" type="presOf" srcId="{829BB4D2-793A-4198-B92B-ECB38719178C}" destId="{FA72B56D-B0B2-4078-B3B4-2C1765B96B4E}" srcOrd="1" destOrd="0" presId="urn:microsoft.com/office/officeart/2005/8/layout/vProcess5"/>
    <dgm:cxn modelId="{3B05818F-1850-4C3E-895F-DB898CA06FE2}" srcId="{4BB5BD99-1166-4247-AABF-13EBB9B997D5}" destId="{5F9B7A82-01B7-4C54-85DE-982FCDC9BB82}" srcOrd="0" destOrd="0" parTransId="{DFA53152-B5DA-4D54-815D-AE8B373D8084}" sibTransId="{3648F2D1-D01E-49B1-8770-FABFE2B5FC10}"/>
    <dgm:cxn modelId="{9758A3AF-A495-4422-A14A-7CAF131E88D2}" type="presOf" srcId="{D23D7E4D-9A31-4904-8B14-6537113695D9}" destId="{04D66450-9C1F-4EFD-9754-E26DB5298F73}" srcOrd="1" destOrd="0" presId="urn:microsoft.com/office/officeart/2005/8/layout/vProcess5"/>
    <dgm:cxn modelId="{0824A0B2-E9D9-417F-90DF-3C39C0CFC9ED}" type="presOf" srcId="{829BB4D2-793A-4198-B92B-ECB38719178C}" destId="{36AFCC2F-DD9B-4274-A28C-5D78185BB690}" srcOrd="0" destOrd="0" presId="urn:microsoft.com/office/officeart/2005/8/layout/vProcess5"/>
    <dgm:cxn modelId="{63C3EEC1-7F89-4E68-BBEA-3474A53E72B8}" type="presOf" srcId="{3648F2D1-D01E-49B1-8770-FABFE2B5FC10}" destId="{B1EF31AA-24C7-43B9-ACB5-890D13377AEF}" srcOrd="0" destOrd="0" presId="urn:microsoft.com/office/officeart/2005/8/layout/vProcess5"/>
    <dgm:cxn modelId="{FF7074C4-D29D-4D4C-ABC8-DA01B3CEDBE2}" type="presOf" srcId="{5F9B7A82-01B7-4C54-85DE-982FCDC9BB82}" destId="{F60B9680-54F2-402B-BDF8-1271C4B92984}" srcOrd="0" destOrd="0" presId="urn:microsoft.com/office/officeart/2005/8/layout/vProcess5"/>
    <dgm:cxn modelId="{99865ADE-92CA-45E0-B0F8-45108DA24415}" srcId="{4BB5BD99-1166-4247-AABF-13EBB9B997D5}" destId="{D23D7E4D-9A31-4904-8B14-6537113695D9}" srcOrd="2" destOrd="0" parTransId="{D8928AD7-CD45-4EAA-8199-A81654574166}" sibTransId="{6A47A7D6-22BE-4DD1-8AA0-87E19817A454}"/>
    <dgm:cxn modelId="{45AA70E2-C0DB-4E2F-A84F-7D9AE735603D}" type="presOf" srcId="{D23D7E4D-9A31-4904-8B14-6537113695D9}" destId="{C7B3BFCB-71E0-4264-92BD-B5F1EBF4273A}" srcOrd="0" destOrd="0" presId="urn:microsoft.com/office/officeart/2005/8/layout/vProcess5"/>
    <dgm:cxn modelId="{4311E779-7BDC-4196-A176-A696AF4208C3}" type="presParOf" srcId="{D585BD96-4499-4A6C-AE76-4AB0076DE3E0}" destId="{19280BE1-9768-41CF-A62C-ABCD1548718D}" srcOrd="0" destOrd="0" presId="urn:microsoft.com/office/officeart/2005/8/layout/vProcess5"/>
    <dgm:cxn modelId="{C1588EFC-C760-4A0C-95E3-ACFF1DCDDA86}" type="presParOf" srcId="{D585BD96-4499-4A6C-AE76-4AB0076DE3E0}" destId="{F60B9680-54F2-402B-BDF8-1271C4B92984}" srcOrd="1" destOrd="0" presId="urn:microsoft.com/office/officeart/2005/8/layout/vProcess5"/>
    <dgm:cxn modelId="{89FE59C1-744A-4597-977F-E5D32F32FDE6}" type="presParOf" srcId="{D585BD96-4499-4A6C-AE76-4AB0076DE3E0}" destId="{36AFCC2F-DD9B-4274-A28C-5D78185BB690}" srcOrd="2" destOrd="0" presId="urn:microsoft.com/office/officeart/2005/8/layout/vProcess5"/>
    <dgm:cxn modelId="{60CB905A-CCF8-4F85-A5BF-DC37E5E8E3E7}" type="presParOf" srcId="{D585BD96-4499-4A6C-AE76-4AB0076DE3E0}" destId="{C7B3BFCB-71E0-4264-92BD-B5F1EBF4273A}" srcOrd="3" destOrd="0" presId="urn:microsoft.com/office/officeart/2005/8/layout/vProcess5"/>
    <dgm:cxn modelId="{DBD4C3E3-09F7-4344-9014-215146F8B91E}" type="presParOf" srcId="{D585BD96-4499-4A6C-AE76-4AB0076DE3E0}" destId="{B1EF31AA-24C7-43B9-ACB5-890D13377AEF}" srcOrd="4" destOrd="0" presId="urn:microsoft.com/office/officeart/2005/8/layout/vProcess5"/>
    <dgm:cxn modelId="{18354D25-A189-4058-920C-8B03168F17A9}" type="presParOf" srcId="{D585BD96-4499-4A6C-AE76-4AB0076DE3E0}" destId="{9823BBE1-A355-47B0-BFE1-1AC583EC09C1}" srcOrd="5" destOrd="0" presId="urn:microsoft.com/office/officeart/2005/8/layout/vProcess5"/>
    <dgm:cxn modelId="{49EA98A8-C6D9-4DCE-9EC6-54FC440773E6}" type="presParOf" srcId="{D585BD96-4499-4A6C-AE76-4AB0076DE3E0}" destId="{F8CBB04F-849B-4A4F-AA26-1E7C9E62B81A}" srcOrd="6" destOrd="0" presId="urn:microsoft.com/office/officeart/2005/8/layout/vProcess5"/>
    <dgm:cxn modelId="{C0141642-2EAD-45FD-AF4C-B7CA8E901F20}" type="presParOf" srcId="{D585BD96-4499-4A6C-AE76-4AB0076DE3E0}" destId="{FA72B56D-B0B2-4078-B3B4-2C1765B96B4E}" srcOrd="7" destOrd="0" presId="urn:microsoft.com/office/officeart/2005/8/layout/vProcess5"/>
    <dgm:cxn modelId="{CE661395-93B4-4CBA-9672-8FF7F1E42EA7}" type="presParOf" srcId="{D585BD96-4499-4A6C-AE76-4AB0076DE3E0}" destId="{04D66450-9C1F-4EFD-9754-E26DB5298F73}"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622AE3-BF7C-46C6-A965-5FF70545623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505F8C5-D07E-40CD-B972-97E82700C773}">
      <dgm:prSet/>
      <dgm:spPr/>
      <dgm:t>
        <a:bodyPr/>
        <a:lstStyle/>
        <a:p>
          <a:r>
            <a:rPr lang="zh-CN"/>
            <a:t>稅捐規避行為</a:t>
          </a:r>
          <a:r>
            <a:rPr lang="en-US"/>
            <a:t>:</a:t>
          </a:r>
          <a:r>
            <a:rPr lang="zh-CN"/>
            <a:t>係指行為人濫用私法自治與契約自由原則在私法上法律形式，選擇以非常規之方式，在結果上達到減輕或排除稅捐負擔之效果，而獲得稅捐利益之行為</a:t>
          </a:r>
          <a:endParaRPr lang="en-US"/>
        </a:p>
      </dgm:t>
    </dgm:pt>
    <dgm:pt modelId="{0BD3CB2E-1C0E-44BB-9327-5E5737641AFA}" type="parTrans" cxnId="{20039876-B5F9-48AC-94DC-4336FE709567}">
      <dgm:prSet/>
      <dgm:spPr/>
      <dgm:t>
        <a:bodyPr/>
        <a:lstStyle/>
        <a:p>
          <a:endParaRPr lang="en-US"/>
        </a:p>
      </dgm:t>
    </dgm:pt>
    <dgm:pt modelId="{BC7412AB-E81C-422D-8F8B-C9FCA8D0C5AF}" type="sibTrans" cxnId="{20039876-B5F9-48AC-94DC-4336FE709567}">
      <dgm:prSet/>
      <dgm:spPr/>
      <dgm:t>
        <a:bodyPr/>
        <a:lstStyle/>
        <a:p>
          <a:endParaRPr lang="en-US"/>
        </a:p>
      </dgm:t>
    </dgm:pt>
    <dgm:pt modelId="{4023A31C-8306-4259-9227-AFCFDC51CF71}">
      <dgm:prSet/>
      <dgm:spPr/>
      <dgm:t>
        <a:bodyPr/>
        <a:lstStyle/>
        <a:p>
          <a:r>
            <a:rPr lang="zh-CN"/>
            <a:t>實質課稅原則</a:t>
          </a:r>
          <a:r>
            <a:rPr lang="en-US"/>
            <a:t>:</a:t>
          </a:r>
          <a:r>
            <a:rPr lang="zh-CN"/>
            <a:t>涉及租稅事項之法律，其解釋應本於租稅法律主義之精神，依各該法律之立法目的，衡酌經濟上之意義及實質課稅之公平原則為之</a:t>
          </a:r>
          <a:endParaRPr lang="en-US"/>
        </a:p>
      </dgm:t>
    </dgm:pt>
    <dgm:pt modelId="{C9B161EA-9F4D-46EA-B4F7-169235156D73}" type="parTrans" cxnId="{3A394FE6-48D4-43A7-A921-8BD1919C0DC0}">
      <dgm:prSet/>
      <dgm:spPr/>
      <dgm:t>
        <a:bodyPr/>
        <a:lstStyle/>
        <a:p>
          <a:endParaRPr lang="en-US"/>
        </a:p>
      </dgm:t>
    </dgm:pt>
    <dgm:pt modelId="{882C25F2-83DC-47FC-99B5-4DF81DEA7470}" type="sibTrans" cxnId="{3A394FE6-48D4-43A7-A921-8BD1919C0DC0}">
      <dgm:prSet/>
      <dgm:spPr/>
      <dgm:t>
        <a:bodyPr/>
        <a:lstStyle/>
        <a:p>
          <a:endParaRPr lang="en-US"/>
        </a:p>
      </dgm:t>
    </dgm:pt>
    <dgm:pt modelId="{52F0B9BB-547B-47A4-AF94-13D57E432AC1}" type="pres">
      <dgm:prSet presAssocID="{CF622AE3-BF7C-46C6-A965-5FF70545623F}" presName="linear" presStyleCnt="0">
        <dgm:presLayoutVars>
          <dgm:animLvl val="lvl"/>
          <dgm:resizeHandles val="exact"/>
        </dgm:presLayoutVars>
      </dgm:prSet>
      <dgm:spPr/>
    </dgm:pt>
    <dgm:pt modelId="{B3065488-A6ED-423B-8287-6D87BEC2AF41}" type="pres">
      <dgm:prSet presAssocID="{B505F8C5-D07E-40CD-B972-97E82700C773}" presName="parentText" presStyleLbl="node1" presStyleIdx="0" presStyleCnt="2">
        <dgm:presLayoutVars>
          <dgm:chMax val="0"/>
          <dgm:bulletEnabled val="1"/>
        </dgm:presLayoutVars>
      </dgm:prSet>
      <dgm:spPr/>
    </dgm:pt>
    <dgm:pt modelId="{BA467F85-B281-46EA-BACA-8E9AA7AF6F41}" type="pres">
      <dgm:prSet presAssocID="{BC7412AB-E81C-422D-8F8B-C9FCA8D0C5AF}" presName="spacer" presStyleCnt="0"/>
      <dgm:spPr/>
    </dgm:pt>
    <dgm:pt modelId="{A70E4B31-BC05-4E31-BCB7-575459D0A459}" type="pres">
      <dgm:prSet presAssocID="{4023A31C-8306-4259-9227-AFCFDC51CF71}" presName="parentText" presStyleLbl="node1" presStyleIdx="1" presStyleCnt="2">
        <dgm:presLayoutVars>
          <dgm:chMax val="0"/>
          <dgm:bulletEnabled val="1"/>
        </dgm:presLayoutVars>
      </dgm:prSet>
      <dgm:spPr/>
    </dgm:pt>
  </dgm:ptLst>
  <dgm:cxnLst>
    <dgm:cxn modelId="{4822B547-DA21-4287-A016-3D9F899DE963}" type="presOf" srcId="{CF622AE3-BF7C-46C6-A965-5FF70545623F}" destId="{52F0B9BB-547B-47A4-AF94-13D57E432AC1}" srcOrd="0" destOrd="0" presId="urn:microsoft.com/office/officeart/2005/8/layout/vList2"/>
    <dgm:cxn modelId="{20039876-B5F9-48AC-94DC-4336FE709567}" srcId="{CF622AE3-BF7C-46C6-A965-5FF70545623F}" destId="{B505F8C5-D07E-40CD-B972-97E82700C773}" srcOrd="0" destOrd="0" parTransId="{0BD3CB2E-1C0E-44BB-9327-5E5737641AFA}" sibTransId="{BC7412AB-E81C-422D-8F8B-C9FCA8D0C5AF}"/>
    <dgm:cxn modelId="{9B0F037D-9E2C-4646-8A3E-67B93CDDE635}" type="presOf" srcId="{4023A31C-8306-4259-9227-AFCFDC51CF71}" destId="{A70E4B31-BC05-4E31-BCB7-575459D0A459}" srcOrd="0" destOrd="0" presId="urn:microsoft.com/office/officeart/2005/8/layout/vList2"/>
    <dgm:cxn modelId="{174D39B9-A5B3-4151-A8FB-C024E7E16B9F}" type="presOf" srcId="{B505F8C5-D07E-40CD-B972-97E82700C773}" destId="{B3065488-A6ED-423B-8287-6D87BEC2AF41}" srcOrd="0" destOrd="0" presId="urn:microsoft.com/office/officeart/2005/8/layout/vList2"/>
    <dgm:cxn modelId="{3A394FE6-48D4-43A7-A921-8BD1919C0DC0}" srcId="{CF622AE3-BF7C-46C6-A965-5FF70545623F}" destId="{4023A31C-8306-4259-9227-AFCFDC51CF71}" srcOrd="1" destOrd="0" parTransId="{C9B161EA-9F4D-46EA-B4F7-169235156D73}" sibTransId="{882C25F2-83DC-47FC-99B5-4DF81DEA7470}"/>
    <dgm:cxn modelId="{D447442E-5685-4AE3-94D3-B6BE64C7C84A}" type="presParOf" srcId="{52F0B9BB-547B-47A4-AF94-13D57E432AC1}" destId="{B3065488-A6ED-423B-8287-6D87BEC2AF41}" srcOrd="0" destOrd="0" presId="urn:microsoft.com/office/officeart/2005/8/layout/vList2"/>
    <dgm:cxn modelId="{4D7E83F0-45E9-4D93-930B-4EC1F7D7DD9A}" type="presParOf" srcId="{52F0B9BB-547B-47A4-AF94-13D57E432AC1}" destId="{BA467F85-B281-46EA-BACA-8E9AA7AF6F41}" srcOrd="1" destOrd="0" presId="urn:microsoft.com/office/officeart/2005/8/layout/vList2"/>
    <dgm:cxn modelId="{EDDFCFD2-D66F-42B9-98F5-2FFB29C4A908}" type="presParOf" srcId="{52F0B9BB-547B-47A4-AF94-13D57E432AC1}" destId="{A70E4B31-BC05-4E31-BCB7-575459D0A45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24BDFB-2863-4B55-8094-FBE3F1925EA6}">
      <dsp:nvSpPr>
        <dsp:cNvPr id="0" name=""/>
        <dsp:cNvSpPr/>
      </dsp:nvSpPr>
      <dsp:spPr>
        <a:xfrm>
          <a:off x="0" y="24630"/>
          <a:ext cx="8987404" cy="83421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100000"/>
            </a:lnSpc>
            <a:spcBef>
              <a:spcPct val="0"/>
            </a:spcBef>
            <a:spcAft>
              <a:spcPct val="35000"/>
            </a:spcAft>
            <a:buNone/>
          </a:pPr>
          <a:r>
            <a:rPr lang="zh-TW" sz="3100" kern="1200" dirty="0"/>
            <a:t>甲 購買的人壽保險 分為</a:t>
          </a:r>
          <a:r>
            <a:rPr lang="zh-TW" altLang="en-US" sz="3100" kern="1200" dirty="0"/>
            <a:t>三</a:t>
          </a:r>
          <a:r>
            <a:rPr lang="zh-TW" sz="3100" kern="1200" dirty="0"/>
            <a:t>部分</a:t>
          </a:r>
          <a:endParaRPr lang="en-US" sz="3100" kern="1200" dirty="0"/>
        </a:p>
      </dsp:txBody>
      <dsp:txXfrm>
        <a:off x="40723" y="65353"/>
        <a:ext cx="8905958" cy="752764"/>
      </dsp:txXfrm>
    </dsp:sp>
    <dsp:sp modelId="{B96334CE-4783-4543-A79C-2E4C24CC12A8}">
      <dsp:nvSpPr>
        <dsp:cNvPr id="0" name=""/>
        <dsp:cNvSpPr/>
      </dsp:nvSpPr>
      <dsp:spPr>
        <a:xfrm>
          <a:off x="0" y="948120"/>
          <a:ext cx="8987404" cy="834210"/>
        </a:xfrm>
        <a:prstGeom prst="roundRect">
          <a:avLst/>
        </a:prstGeom>
        <a:solidFill>
          <a:schemeClr val="accent5">
            <a:hueOff val="5992711"/>
            <a:satOff val="-2406"/>
            <a:lumOff val="-797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100000"/>
            </a:lnSpc>
            <a:spcBef>
              <a:spcPct val="0"/>
            </a:spcBef>
            <a:spcAft>
              <a:spcPct val="35000"/>
            </a:spcAft>
            <a:buNone/>
          </a:pPr>
          <a:r>
            <a:rPr lang="en-US" altLang="zh-TW" sz="3100" kern="1200" dirty="0"/>
            <a:t>A:</a:t>
          </a:r>
          <a:r>
            <a:rPr lang="zh-TW" sz="3100" kern="1200" dirty="0"/>
            <a:t>基本保額</a:t>
          </a:r>
          <a:r>
            <a:rPr lang="en-US" sz="3100" kern="1200" dirty="0"/>
            <a:t>300</a:t>
          </a:r>
          <a:r>
            <a:rPr lang="zh-TW" sz="3100" kern="1200" dirty="0"/>
            <a:t>萬元 </a:t>
          </a:r>
          <a:endParaRPr lang="en-US" sz="3100" kern="1200" dirty="0"/>
        </a:p>
      </dsp:txBody>
      <dsp:txXfrm>
        <a:off x="40723" y="988843"/>
        <a:ext cx="8905958" cy="752764"/>
      </dsp:txXfrm>
    </dsp:sp>
    <dsp:sp modelId="{AC4014CA-2095-4D75-8CDF-8B01B94FC785}">
      <dsp:nvSpPr>
        <dsp:cNvPr id="0" name=""/>
        <dsp:cNvSpPr/>
      </dsp:nvSpPr>
      <dsp:spPr>
        <a:xfrm>
          <a:off x="0" y="1871610"/>
          <a:ext cx="8987404" cy="834210"/>
        </a:xfrm>
        <a:prstGeom prst="roundRect">
          <a:avLst/>
        </a:prstGeom>
        <a:solidFill>
          <a:schemeClr val="accent5">
            <a:hueOff val="11985421"/>
            <a:satOff val="-4813"/>
            <a:lumOff val="-1594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100000"/>
            </a:lnSpc>
            <a:spcBef>
              <a:spcPct val="0"/>
            </a:spcBef>
            <a:spcAft>
              <a:spcPct val="35000"/>
            </a:spcAft>
            <a:buNone/>
          </a:pPr>
          <a:r>
            <a:rPr lang="en-US" altLang="zh-TW" sz="3100" kern="1200" dirty="0"/>
            <a:t>B:</a:t>
          </a:r>
          <a:r>
            <a:rPr lang="zh-TW" altLang="en-US" sz="3100" kern="1200" dirty="0"/>
            <a:t>每年</a:t>
          </a:r>
          <a:r>
            <a:rPr lang="zh-TW" sz="3100" kern="1200" dirty="0"/>
            <a:t>單利增值部分</a:t>
          </a:r>
          <a:r>
            <a:rPr lang="en-US" sz="3100" kern="1200" dirty="0"/>
            <a:t>10%</a:t>
          </a:r>
        </a:p>
      </dsp:txBody>
      <dsp:txXfrm>
        <a:off x="40723" y="1912333"/>
        <a:ext cx="8905958" cy="752764"/>
      </dsp:txXfrm>
    </dsp:sp>
    <dsp:sp modelId="{28A66A1A-7A1A-4C83-9FD4-5E272862B15A}">
      <dsp:nvSpPr>
        <dsp:cNvPr id="0" name=""/>
        <dsp:cNvSpPr/>
      </dsp:nvSpPr>
      <dsp:spPr>
        <a:xfrm>
          <a:off x="0" y="2795100"/>
          <a:ext cx="8987404" cy="834210"/>
        </a:xfrm>
        <a:prstGeom prst="roundRect">
          <a:avLst/>
        </a:prstGeom>
        <a:solidFill>
          <a:schemeClr val="accent5">
            <a:hueOff val="17978132"/>
            <a:satOff val="-7219"/>
            <a:lumOff val="-2392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100000"/>
            </a:lnSpc>
            <a:spcBef>
              <a:spcPct val="0"/>
            </a:spcBef>
            <a:spcAft>
              <a:spcPct val="35000"/>
            </a:spcAft>
            <a:buNone/>
          </a:pPr>
          <a:r>
            <a:rPr lang="en-US" altLang="zh-TW" sz="3100" kern="1200" dirty="0"/>
            <a:t>C:</a:t>
          </a:r>
          <a:r>
            <a:rPr lang="zh-TW" altLang="en-US" sz="3100" kern="1200" dirty="0"/>
            <a:t>每年</a:t>
          </a:r>
          <a:r>
            <a:rPr lang="zh-TW" sz="3100" kern="1200" dirty="0"/>
            <a:t>複利增值部分</a:t>
          </a:r>
          <a:r>
            <a:rPr lang="en-US" sz="3100" kern="1200" dirty="0"/>
            <a:t>5%</a:t>
          </a:r>
        </a:p>
      </dsp:txBody>
      <dsp:txXfrm>
        <a:off x="40723" y="2835823"/>
        <a:ext cx="8905958" cy="7527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40E203-8F70-4E58-B001-36005BA7E7E0}">
      <dsp:nvSpPr>
        <dsp:cNvPr id="0" name=""/>
        <dsp:cNvSpPr/>
      </dsp:nvSpPr>
      <dsp:spPr>
        <a:xfrm>
          <a:off x="0" y="28728"/>
          <a:ext cx="5914209" cy="2555279"/>
        </a:xfrm>
        <a:prstGeom prst="roundRect">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zh-TW" sz="2800" b="1" kern="1200">
              <a:latin typeface="+mn-ea"/>
              <a:ea typeface="+mn-ea"/>
            </a:rPr>
            <a:t>一、本件中，甲投保系爭保險後，於甲死亡乙等繼承人請領死亡保險金，是否可被認為構成稅捐規避</a:t>
          </a:r>
          <a:r>
            <a:rPr lang="en-US" sz="2800" b="1" kern="1200">
              <a:latin typeface="+mn-ea"/>
              <a:ea typeface="+mn-ea"/>
            </a:rPr>
            <a:t>?</a:t>
          </a:r>
          <a:r>
            <a:rPr lang="zh-TW" sz="2800" b="1" kern="1200">
              <a:latin typeface="+mn-ea"/>
              <a:ea typeface="+mn-ea"/>
            </a:rPr>
            <a:t>財政部臺灣省中區國稅局所做出的核課處分是否合法</a:t>
          </a:r>
          <a:r>
            <a:rPr lang="en-US" sz="2800" b="1" kern="1200">
              <a:latin typeface="+mn-ea"/>
              <a:ea typeface="+mn-ea"/>
            </a:rPr>
            <a:t>?</a:t>
          </a:r>
          <a:endParaRPr lang="en-US" sz="2800" kern="1200">
            <a:latin typeface="+mn-ea"/>
            <a:ea typeface="+mn-ea"/>
          </a:endParaRPr>
        </a:p>
      </dsp:txBody>
      <dsp:txXfrm>
        <a:off x="124738" y="153466"/>
        <a:ext cx="5664733" cy="2305803"/>
      </dsp:txXfrm>
    </dsp:sp>
    <dsp:sp modelId="{7E6C577E-5155-4A32-9B39-5068A296807B}">
      <dsp:nvSpPr>
        <dsp:cNvPr id="0" name=""/>
        <dsp:cNvSpPr/>
      </dsp:nvSpPr>
      <dsp:spPr>
        <a:xfrm>
          <a:off x="0" y="2664648"/>
          <a:ext cx="5914209" cy="2555279"/>
        </a:xfrm>
        <a:prstGeom prst="roundRect">
          <a:avLst/>
        </a:prstGeom>
        <a:blipFill>
          <a:blip xmlns:r="http://schemas.openxmlformats.org/officeDocument/2006/relationships" r:embed="rId1">
            <a:duotone>
              <a:schemeClr val="accent5">
                <a:hueOff val="17978132"/>
                <a:satOff val="-7219"/>
                <a:lumOff val="-23923"/>
                <a:alphaOff val="0"/>
                <a:shade val="74000"/>
                <a:satMod val="130000"/>
                <a:lumMod val="90000"/>
              </a:schemeClr>
              <a:schemeClr val="accent5">
                <a:hueOff val="17978132"/>
                <a:satOff val="-7219"/>
                <a:lumOff val="-23923"/>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zh-TW" sz="2800" b="1" kern="1200" dirty="0">
              <a:latin typeface="+mn-ea"/>
              <a:ea typeface="+mn-ea"/>
            </a:rPr>
            <a:t>二、本件依照遺產及贈與稅法</a:t>
          </a:r>
          <a:r>
            <a:rPr lang="en-US" sz="2800" b="1" kern="1200" dirty="0">
              <a:latin typeface="+mn-ea"/>
              <a:ea typeface="+mn-ea"/>
            </a:rPr>
            <a:t>16</a:t>
          </a:r>
          <a:r>
            <a:rPr lang="zh-TW" sz="2800" b="1" kern="1200" dirty="0">
              <a:latin typeface="+mn-ea"/>
              <a:ea typeface="+mn-ea"/>
            </a:rPr>
            <a:t>條</a:t>
          </a:r>
          <a:r>
            <a:rPr lang="en-US" sz="2800" b="1" kern="1200" dirty="0">
              <a:latin typeface="+mn-ea"/>
              <a:ea typeface="+mn-ea"/>
            </a:rPr>
            <a:t>9</a:t>
          </a:r>
          <a:r>
            <a:rPr lang="zh-TW" sz="2800" b="1" kern="1200" dirty="0">
              <a:latin typeface="+mn-ea"/>
              <a:ea typeface="+mn-ea"/>
            </a:rPr>
            <a:t>款之規定，不計入遺產總額之保險給付金額應為多少始為正確</a:t>
          </a:r>
          <a:r>
            <a:rPr lang="en-US" sz="2800" b="1" kern="1200" dirty="0">
              <a:latin typeface="+mn-ea"/>
              <a:ea typeface="+mn-ea"/>
            </a:rPr>
            <a:t>? </a:t>
          </a:r>
          <a:endParaRPr lang="en-US" sz="2800" kern="1200" dirty="0">
            <a:latin typeface="+mn-ea"/>
            <a:ea typeface="+mn-ea"/>
          </a:endParaRPr>
        </a:p>
      </dsp:txBody>
      <dsp:txXfrm>
        <a:off x="124738" y="2789386"/>
        <a:ext cx="5664733" cy="23058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0B9680-54F2-402B-BDF8-1271C4B92984}">
      <dsp:nvSpPr>
        <dsp:cNvPr id="0" name=""/>
        <dsp:cNvSpPr/>
      </dsp:nvSpPr>
      <dsp:spPr>
        <a:xfrm>
          <a:off x="0" y="0"/>
          <a:ext cx="8161017" cy="862464"/>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TW" sz="1800" kern="1200" dirty="0"/>
            <a:t>一、最高行政法院原則上支持高等法院的見解，認為系爭保險之增額給付部分應用實質課稅原則調整之，應併計遺產稅，但不構成稅捐規避</a:t>
          </a:r>
          <a:endParaRPr lang="en-US" sz="1800" kern="1200" dirty="0"/>
        </a:p>
      </dsp:txBody>
      <dsp:txXfrm>
        <a:off x="25261" y="25261"/>
        <a:ext cx="7230350" cy="811942"/>
      </dsp:txXfrm>
    </dsp:sp>
    <dsp:sp modelId="{36AFCC2F-DD9B-4274-A28C-5D78185BB690}">
      <dsp:nvSpPr>
        <dsp:cNvPr id="0" name=""/>
        <dsp:cNvSpPr/>
      </dsp:nvSpPr>
      <dsp:spPr>
        <a:xfrm>
          <a:off x="720089" y="1006209"/>
          <a:ext cx="8161017" cy="862464"/>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TW" sz="1800" kern="1200"/>
            <a:t>二、本件中最高行政法院亦認為僅該主契約保險基本額之</a:t>
          </a:r>
          <a:r>
            <a:rPr lang="en-US" sz="1800" kern="1200"/>
            <a:t>300</a:t>
          </a:r>
          <a:r>
            <a:rPr lang="zh-TW" sz="1800" kern="1200"/>
            <a:t>萬元符合遺產及贈與稅法</a:t>
          </a:r>
          <a:r>
            <a:rPr lang="en-US" sz="1800" kern="1200"/>
            <a:t>16</a:t>
          </a:r>
          <a:r>
            <a:rPr lang="zh-TW" sz="1800" kern="1200"/>
            <a:t>條</a:t>
          </a:r>
          <a:r>
            <a:rPr lang="en-US" sz="1800" kern="1200"/>
            <a:t>9</a:t>
          </a:r>
          <a:r>
            <a:rPr lang="zh-TW" sz="1800" kern="1200"/>
            <a:t>款立法目的而不計入遺產總額</a:t>
          </a:r>
          <a:r>
            <a:rPr lang="en-US" sz="1800" kern="1200"/>
            <a:t> </a:t>
          </a:r>
        </a:p>
      </dsp:txBody>
      <dsp:txXfrm>
        <a:off x="745350" y="1031470"/>
        <a:ext cx="6829803" cy="811942"/>
      </dsp:txXfrm>
    </dsp:sp>
    <dsp:sp modelId="{C7B3BFCB-71E0-4264-92BD-B5F1EBF4273A}">
      <dsp:nvSpPr>
        <dsp:cNvPr id="0" name=""/>
        <dsp:cNvSpPr/>
      </dsp:nvSpPr>
      <dsp:spPr>
        <a:xfrm>
          <a:off x="1440179" y="2012418"/>
          <a:ext cx="8161017" cy="86246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TW" sz="1800" kern="1200"/>
            <a:t>基本上支持台中高等行政法院之見解</a:t>
          </a:r>
          <a:endParaRPr lang="en-US" sz="1800" kern="1200"/>
        </a:p>
      </dsp:txBody>
      <dsp:txXfrm>
        <a:off x="1465440" y="2037679"/>
        <a:ext cx="6829803" cy="811942"/>
      </dsp:txXfrm>
    </dsp:sp>
    <dsp:sp modelId="{B1EF31AA-24C7-43B9-ACB5-890D13377AEF}">
      <dsp:nvSpPr>
        <dsp:cNvPr id="0" name=""/>
        <dsp:cNvSpPr/>
      </dsp:nvSpPr>
      <dsp:spPr>
        <a:xfrm>
          <a:off x="7600415" y="654035"/>
          <a:ext cx="560602" cy="560602"/>
        </a:xfrm>
        <a:prstGeom prst="downArrow">
          <a:avLst>
            <a:gd name="adj1" fmla="val 55000"/>
            <a:gd name="adj2" fmla="val 45000"/>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7726550" y="654035"/>
        <a:ext cx="308332" cy="421853"/>
      </dsp:txXfrm>
    </dsp:sp>
    <dsp:sp modelId="{9823BBE1-A355-47B0-BFE1-1AC583EC09C1}">
      <dsp:nvSpPr>
        <dsp:cNvPr id="0" name=""/>
        <dsp:cNvSpPr/>
      </dsp:nvSpPr>
      <dsp:spPr>
        <a:xfrm>
          <a:off x="8320505" y="1654495"/>
          <a:ext cx="560602" cy="560602"/>
        </a:xfrm>
        <a:prstGeom prst="downArrow">
          <a:avLst>
            <a:gd name="adj1" fmla="val 55000"/>
            <a:gd name="adj2" fmla="val 45000"/>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8446640" y="1654495"/>
        <a:ext cx="308332" cy="4218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065488-A6ED-423B-8287-6D87BEC2AF41}">
      <dsp:nvSpPr>
        <dsp:cNvPr id="0" name=""/>
        <dsp:cNvSpPr/>
      </dsp:nvSpPr>
      <dsp:spPr>
        <a:xfrm>
          <a:off x="0" y="375169"/>
          <a:ext cx="9601196" cy="842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sz="2000" kern="1200"/>
            <a:t>稅捐規避行為</a:t>
          </a:r>
          <a:r>
            <a:rPr lang="en-US" sz="2000" kern="1200"/>
            <a:t>:</a:t>
          </a:r>
          <a:r>
            <a:rPr lang="zh-CN" sz="2000" kern="1200"/>
            <a:t>係指行為人濫用私法自治與契約自由原則在私法上法律形式，選擇以非常規之方式，在結果上達到減輕或排除稅捐負擔之效果，而獲得稅捐利益之行為</a:t>
          </a:r>
          <a:endParaRPr lang="en-US" sz="2000" kern="1200"/>
        </a:p>
      </dsp:txBody>
      <dsp:txXfrm>
        <a:off x="41123" y="416292"/>
        <a:ext cx="9518950" cy="760154"/>
      </dsp:txXfrm>
    </dsp:sp>
    <dsp:sp modelId="{A70E4B31-BC05-4E31-BCB7-575459D0A459}">
      <dsp:nvSpPr>
        <dsp:cNvPr id="0" name=""/>
        <dsp:cNvSpPr/>
      </dsp:nvSpPr>
      <dsp:spPr>
        <a:xfrm>
          <a:off x="0" y="1275169"/>
          <a:ext cx="9601196" cy="842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zh-CN" sz="2000" kern="1200"/>
            <a:t>實質課稅原則</a:t>
          </a:r>
          <a:r>
            <a:rPr lang="en-US" sz="2000" kern="1200"/>
            <a:t>:</a:t>
          </a:r>
          <a:r>
            <a:rPr lang="zh-CN" sz="2000" kern="1200"/>
            <a:t>涉及租稅事項之法律，其解釋應本於租稅法律主義之精神，依各該法律之立法目的，衡酌經濟上之意義及實質課稅之公平原則為之</a:t>
          </a:r>
          <a:endParaRPr lang="en-US" sz="2000" kern="1200"/>
        </a:p>
      </dsp:txBody>
      <dsp:txXfrm>
        <a:off x="41123" y="1316292"/>
        <a:ext cx="9518950" cy="76015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08EF29-7139-437B-83F3-CBF05429626E}" type="datetimeFigureOut">
              <a:rPr lang="zh-TW" altLang="en-US" smtClean="0"/>
              <a:t>2025/12/17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408C5F-21EB-4E9B-A50D-3B78B14432DD}" type="slidenum">
              <a:rPr lang="zh-TW" altLang="en-US" smtClean="0"/>
              <a:t>‹#›</a:t>
            </a:fld>
            <a:endParaRPr lang="zh-TW" altLang="en-US"/>
          </a:p>
        </p:txBody>
      </p:sp>
    </p:spTree>
    <p:extLst>
      <p:ext uri="{BB962C8B-B14F-4D97-AF65-F5344CB8AC3E}">
        <p14:creationId xmlns:p14="http://schemas.microsoft.com/office/powerpoint/2010/main" val="3687876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6408C5F-21EB-4E9B-A50D-3B78B14432DD}" type="slidenum">
              <a:rPr lang="zh-TW" altLang="en-US" smtClean="0"/>
              <a:t>1</a:t>
            </a:fld>
            <a:endParaRPr lang="zh-TW" altLang="en-US"/>
          </a:p>
        </p:txBody>
      </p:sp>
    </p:spTree>
    <p:extLst>
      <p:ext uri="{BB962C8B-B14F-4D97-AF65-F5344CB8AC3E}">
        <p14:creationId xmlns:p14="http://schemas.microsoft.com/office/powerpoint/2010/main" val="25379191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9" name="Picture 8"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zh-TW" altLang="en-US"/>
              <a:t>按一下以編輯母片標題樣式</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en-US" dirty="0"/>
          </a:p>
        </p:txBody>
      </p:sp>
      <p:sp>
        <p:nvSpPr>
          <p:cNvPr id="4" name="Date Placeholder 3"/>
          <p:cNvSpPr>
            <a:spLocks noGrp="1"/>
          </p:cNvSpPr>
          <p:nvPr>
            <p:ph type="dt" sz="half" idx="10"/>
          </p:nvPr>
        </p:nvSpPr>
        <p:spPr>
          <a:xfrm>
            <a:off x="7983232" y="5037663"/>
            <a:ext cx="897467" cy="279400"/>
          </a:xfrm>
        </p:spPr>
        <p:txBody>
          <a:body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11"/>
          </p:nvPr>
        </p:nvSpPr>
        <p:spPr>
          <a:xfrm>
            <a:off x="2692397" y="5037663"/>
            <a:ext cx="5214635" cy="279400"/>
          </a:xfrm>
        </p:spPr>
        <p:txBody>
          <a:bodyPr/>
          <a:lstStyle/>
          <a:p>
            <a:endParaRPr lang="zh-TW" altLang="en-US"/>
          </a:p>
        </p:txBody>
      </p:sp>
      <p:sp>
        <p:nvSpPr>
          <p:cNvPr id="6" name="Slide Number Placeholder 5"/>
          <p:cNvSpPr>
            <a:spLocks noGrp="1"/>
          </p:cNvSpPr>
          <p:nvPr>
            <p:ph type="sldNum" sz="quarter" idx="12"/>
          </p:nvPr>
        </p:nvSpPr>
        <p:spPr>
          <a:xfrm>
            <a:off x="8956900" y="5037663"/>
            <a:ext cx="551167" cy="279400"/>
          </a:xfrm>
        </p:spPr>
        <p:txBody>
          <a:bodyPr/>
          <a:lstStyle/>
          <a:p>
            <a:fld id="{0509E740-7EDF-4820-B7C3-D7D9D99740D6}" type="slidenum">
              <a:rPr lang="zh-TW" altLang="en-US" smtClean="0"/>
              <a:t>‹#›</a:t>
            </a:fld>
            <a:endParaRPr lang="zh-TW" alt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2151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509E740-7EDF-4820-B7C3-D7D9D99740D6}" type="slidenum">
              <a:rPr lang="zh-TW" altLang="en-US" smtClean="0"/>
              <a:t>‹#›</a:t>
            </a:fld>
            <a:endParaRPr lang="zh-TW" altLang="en-US"/>
          </a:p>
        </p:txBody>
      </p:sp>
    </p:spTree>
    <p:extLst>
      <p:ext uri="{BB962C8B-B14F-4D97-AF65-F5344CB8AC3E}">
        <p14:creationId xmlns:p14="http://schemas.microsoft.com/office/powerpoint/2010/main" val="1436269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509E740-7EDF-4820-B7C3-D7D9D99740D6}" type="slidenum">
              <a:rPr lang="zh-TW" altLang="en-US" smtClean="0"/>
              <a:t>‹#›</a:t>
            </a:fld>
            <a:endParaRPr lang="zh-TW" alt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2479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509E740-7EDF-4820-B7C3-D7D9D99740D6}" type="slidenum">
              <a:rPr lang="zh-TW" altLang="en-US" smtClean="0"/>
              <a:t>‹#›</a:t>
            </a:fld>
            <a:endParaRPr lang="zh-TW" altLang="en-US"/>
          </a:p>
        </p:txBody>
      </p:sp>
    </p:spTree>
    <p:extLst>
      <p:ext uri="{BB962C8B-B14F-4D97-AF65-F5344CB8AC3E}">
        <p14:creationId xmlns:p14="http://schemas.microsoft.com/office/powerpoint/2010/main" val="3826517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509E740-7EDF-4820-B7C3-D7D9D99740D6}" type="slidenum">
              <a:rPr lang="zh-TW" altLang="en-US" smtClean="0"/>
              <a:t>‹#›</a:t>
            </a:fld>
            <a:endParaRPr lang="zh-TW" alt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0712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509E740-7EDF-4820-B7C3-D7D9D99740D6}" type="slidenum">
              <a:rPr lang="zh-TW" altLang="en-US" smtClean="0"/>
              <a:t>‹#›</a:t>
            </a:fld>
            <a:endParaRPr lang="zh-TW"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3360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509E740-7EDF-4820-B7C3-D7D9D99740D6}" type="slidenum">
              <a:rPr lang="zh-TW" altLang="en-US" smtClean="0"/>
              <a:t>‹#›</a:t>
            </a:fld>
            <a:endParaRPr lang="zh-TW" altLang="en-US"/>
          </a:p>
        </p:txBody>
      </p:sp>
    </p:spTree>
    <p:extLst>
      <p:ext uri="{BB962C8B-B14F-4D97-AF65-F5344CB8AC3E}">
        <p14:creationId xmlns:p14="http://schemas.microsoft.com/office/powerpoint/2010/main" val="3985342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zh-TW" altLang="en-US"/>
              <a:t>按一下以編輯母片標題樣式</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509E740-7EDF-4820-B7C3-D7D9D99740D6}" type="slidenum">
              <a:rPr lang="zh-TW" altLang="en-US" smtClean="0"/>
              <a:t>‹#›</a:t>
            </a:fld>
            <a:endParaRPr lang="zh-TW" alt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5587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zh-TW" altLang="en-US"/>
              <a:t>按一下以編輯母片標題樣式</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509E740-7EDF-4820-B7C3-D7D9D99740D6}" type="slidenum">
              <a:rPr lang="zh-TW" altLang="en-US" smtClean="0"/>
              <a:t>‹#›</a:t>
            </a:fld>
            <a:endParaRPr lang="zh-TW" altLang="en-US"/>
          </a:p>
        </p:txBody>
      </p:sp>
    </p:spTree>
    <p:extLst>
      <p:ext uri="{BB962C8B-B14F-4D97-AF65-F5344CB8AC3E}">
        <p14:creationId xmlns:p14="http://schemas.microsoft.com/office/powerpoint/2010/main" val="2950370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全景圖片 (含輔助字幕)">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509E740-7EDF-4820-B7C3-D7D9D99740D6}" type="slidenum">
              <a:rPr lang="zh-TW" altLang="en-US" smtClean="0"/>
              <a:t>‹#›</a:t>
            </a:fld>
            <a:endParaRPr lang="zh-TW" altLang="en-US"/>
          </a:p>
        </p:txBody>
      </p:sp>
    </p:spTree>
    <p:extLst>
      <p:ext uri="{BB962C8B-B14F-4D97-AF65-F5344CB8AC3E}">
        <p14:creationId xmlns:p14="http://schemas.microsoft.com/office/powerpoint/2010/main" val="1679699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標題與輔助字幕">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509E740-7EDF-4820-B7C3-D7D9D99740D6}" type="slidenum">
              <a:rPr lang="zh-TW" altLang="en-US" smtClean="0"/>
              <a:t>‹#›</a:t>
            </a:fld>
            <a:endParaRPr lang="zh-TW" alt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0939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述 (含輔助字幕)">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zh-TW" altLang="en-US"/>
              <a:t>按一下以編輯母片標題樣式</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按一下以編輯母片文字樣式</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509E740-7EDF-4820-B7C3-D7D9D99740D6}" type="slidenum">
              <a:rPr lang="zh-TW" altLang="en-US" smtClean="0"/>
              <a:t>‹#›</a:t>
            </a:fld>
            <a:endParaRPr lang="zh-TW" alt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19000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509E740-7EDF-4820-B7C3-D7D9D99740D6}" type="slidenum">
              <a:rPr lang="zh-TW" altLang="en-US" smtClean="0"/>
              <a:t>‹#›</a:t>
            </a:fld>
            <a:endParaRPr lang="zh-TW" altLang="en-US"/>
          </a:p>
        </p:txBody>
      </p:sp>
    </p:spTree>
    <p:extLst>
      <p:ext uri="{BB962C8B-B14F-4D97-AF65-F5344CB8AC3E}">
        <p14:creationId xmlns:p14="http://schemas.microsoft.com/office/powerpoint/2010/main" val="515238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zh-TW" altLang="en-US"/>
              <a:t>按一下以編輯母片標題樣式</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509E740-7EDF-4820-B7C3-D7D9D99740D6}" type="slidenum">
              <a:rPr lang="zh-TW" altLang="en-US" smtClean="0"/>
              <a:t>‹#›</a:t>
            </a:fld>
            <a:endParaRPr lang="zh-TW" alt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0126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zh-TW" altLang="en-US"/>
              <a:t>按一下以編輯母片標題樣式</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509E740-7EDF-4820-B7C3-D7D9D99740D6}" type="slidenum">
              <a:rPr lang="zh-TW" altLang="en-US" smtClean="0"/>
              <a:t>‹#›</a:t>
            </a:fld>
            <a:endParaRPr lang="zh-TW" alt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2598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509E740-7EDF-4820-B7C3-D7D9D99740D6}" type="slidenum">
              <a:rPr lang="zh-TW" altLang="en-US" smtClean="0"/>
              <a:t>‹#›</a:t>
            </a:fld>
            <a:endParaRPr lang="zh-TW"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55109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509E740-7EDF-4820-B7C3-D7D9D99740D6}" type="slidenum">
              <a:rPr lang="zh-TW" altLang="en-US" smtClean="0"/>
              <a:t>‹#›</a:t>
            </a:fld>
            <a:endParaRPr lang="zh-TW" alt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7191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F801A09-60A9-48F3-96EA-6F2602ACF084}" type="datetimeFigureOut">
              <a:rPr lang="zh-TW" altLang="en-US" smtClean="0"/>
              <a:t>2025/12/17</a:t>
            </a:fld>
            <a:endParaRPr lang="zh-TW" alt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zh-TW" alt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509E740-7EDF-4820-B7C3-D7D9D99740D6}" type="slidenum">
              <a:rPr lang="zh-TW" altLang="en-US" smtClean="0"/>
              <a:t>‹#›</a:t>
            </a:fld>
            <a:endParaRPr lang="zh-TW" altLang="en-US"/>
          </a:p>
        </p:txBody>
      </p:sp>
    </p:spTree>
    <p:extLst>
      <p:ext uri="{BB962C8B-B14F-4D97-AF65-F5344CB8AC3E}">
        <p14:creationId xmlns:p14="http://schemas.microsoft.com/office/powerpoint/2010/main" val="3498500586"/>
      </p:ext>
    </p:extLst>
  </p:cSld>
  <p:clrMap bg1="lt1" tx1="dk1" bg2="lt2" tx2="dk2" accent1="accent1" accent2="accent2" accent3="accent3" accent4="accent4" accent5="accent5" accent6="accent6" hlink="hlink" folHlink="folHlink"/>
  <p:sldLayoutIdLst>
    <p:sldLayoutId id="2147484123" r:id="rId1"/>
    <p:sldLayoutId id="2147484124" r:id="rId2"/>
    <p:sldLayoutId id="2147484125" r:id="rId3"/>
    <p:sldLayoutId id="2147484126" r:id="rId4"/>
    <p:sldLayoutId id="2147484127" r:id="rId5"/>
    <p:sldLayoutId id="2147484128" r:id="rId6"/>
    <p:sldLayoutId id="2147484129" r:id="rId7"/>
    <p:sldLayoutId id="2147484130" r:id="rId8"/>
    <p:sldLayoutId id="2147484131" r:id="rId9"/>
    <p:sldLayoutId id="2147484132" r:id="rId10"/>
    <p:sldLayoutId id="2147484133" r:id="rId11"/>
    <p:sldLayoutId id="2147484134" r:id="rId12"/>
    <p:sldLayoutId id="2147484135" r:id="rId13"/>
    <p:sldLayoutId id="2147484136" r:id="rId14"/>
    <p:sldLayoutId id="2147484137" r:id="rId15"/>
    <p:sldLayoutId id="2147484138" r:id="rId16"/>
    <p:sldLayoutId id="214748413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8.gif"/><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E38FD4-788F-10A6-104C-5A15C765580E}"/>
              </a:ext>
            </a:extLst>
          </p:cNvPr>
          <p:cNvSpPr>
            <a:spLocks noGrp="1"/>
          </p:cNvSpPr>
          <p:nvPr>
            <p:ph type="ctrTitle"/>
          </p:nvPr>
        </p:nvSpPr>
        <p:spPr>
          <a:xfrm>
            <a:off x="1454150" y="550863"/>
            <a:ext cx="9144000" cy="2387600"/>
          </a:xfrm>
        </p:spPr>
        <p:txBody>
          <a:bodyPr>
            <a:normAutofit/>
          </a:bodyPr>
          <a:lstStyle/>
          <a:p>
            <a:r>
              <a:rPr lang="zh-TW" altLang="zh-TW" sz="2800" b="1" dirty="0"/>
              <a:t>人壽保險給付的稅捐規避與實質課稅原則的適用</a:t>
            </a:r>
            <a:br>
              <a:rPr lang="zh-TW" altLang="zh-TW" sz="2800" b="1" dirty="0"/>
            </a:br>
            <a:r>
              <a:rPr lang="en-US" altLang="zh-TW" sz="2800" dirty="0"/>
              <a:t> </a:t>
            </a:r>
            <a:br>
              <a:rPr lang="zh-TW" altLang="zh-TW" sz="2800" dirty="0"/>
            </a:br>
            <a:r>
              <a:rPr lang="en-US" altLang="zh-TW" sz="2800" dirty="0"/>
              <a:t>──</a:t>
            </a:r>
            <a:r>
              <a:rPr lang="zh-TW" altLang="zh-TW" sz="2800" dirty="0"/>
              <a:t>評最高行政法院</a:t>
            </a:r>
            <a:r>
              <a:rPr lang="en-US" altLang="zh-TW" sz="2800" dirty="0"/>
              <a:t>102</a:t>
            </a:r>
            <a:r>
              <a:rPr lang="zh-TW" altLang="zh-TW" sz="2800" dirty="0"/>
              <a:t>年度判字第</a:t>
            </a:r>
            <a:r>
              <a:rPr lang="en-US" altLang="zh-TW" sz="2800" dirty="0"/>
              <a:t>227</a:t>
            </a:r>
            <a:r>
              <a:rPr lang="zh-TW" altLang="zh-TW" sz="2800" dirty="0"/>
              <a:t>號判決</a:t>
            </a:r>
            <a:endParaRPr lang="zh-TW" altLang="en-US" sz="2800" dirty="0"/>
          </a:p>
        </p:txBody>
      </p:sp>
      <p:sp>
        <p:nvSpPr>
          <p:cNvPr id="3" name="副標題 2">
            <a:extLst>
              <a:ext uri="{FF2B5EF4-FFF2-40B4-BE49-F238E27FC236}">
                <a16:creationId xmlns:a16="http://schemas.microsoft.com/office/drawing/2014/main" id="{D62738C2-AD76-3CB3-BC7E-1CF785D5EFF2}"/>
              </a:ext>
            </a:extLst>
          </p:cNvPr>
          <p:cNvSpPr>
            <a:spLocks noGrp="1"/>
          </p:cNvSpPr>
          <p:nvPr>
            <p:ph type="subTitle" idx="1"/>
          </p:nvPr>
        </p:nvSpPr>
        <p:spPr>
          <a:xfrm>
            <a:off x="2287753" y="4088715"/>
            <a:ext cx="9213850" cy="1219200"/>
          </a:xfrm>
        </p:spPr>
        <p:txBody>
          <a:bodyPr>
            <a:normAutofit fontScale="70000" lnSpcReduction="20000"/>
          </a:bodyPr>
          <a:lstStyle/>
          <a:p>
            <a:pPr algn="l"/>
            <a:r>
              <a:rPr lang="zh-TW" altLang="en-US" dirty="0"/>
              <a:t>報告人</a:t>
            </a:r>
            <a:endParaRPr lang="en-US" altLang="zh-TW" dirty="0"/>
          </a:p>
          <a:p>
            <a:pPr algn="l"/>
            <a:r>
              <a:rPr lang="zh-TW" altLang="en-US" dirty="0"/>
              <a:t>張喆  </a:t>
            </a:r>
            <a:r>
              <a:rPr lang="en-US" altLang="zh-TW" dirty="0"/>
              <a:t>R14A21078</a:t>
            </a:r>
          </a:p>
          <a:p>
            <a:pPr algn="l"/>
            <a:r>
              <a:rPr lang="zh-TW" altLang="en-US" dirty="0"/>
              <a:t>國立臺灣大學法律學系碩士班</a:t>
            </a:r>
            <a:endParaRPr lang="en-US" altLang="zh-TW" dirty="0"/>
          </a:p>
          <a:p>
            <a:pPr algn="l"/>
            <a:r>
              <a:rPr lang="zh-TW" altLang="en-US" dirty="0"/>
              <a:t>財稅法學組一年級</a:t>
            </a:r>
          </a:p>
        </p:txBody>
      </p:sp>
      <p:sp>
        <p:nvSpPr>
          <p:cNvPr id="4" name="文字方塊 3">
            <a:extLst>
              <a:ext uri="{FF2B5EF4-FFF2-40B4-BE49-F238E27FC236}">
                <a16:creationId xmlns:a16="http://schemas.microsoft.com/office/drawing/2014/main" id="{3FE9610A-B37F-F836-3E5C-97EBB96AA4A3}"/>
              </a:ext>
            </a:extLst>
          </p:cNvPr>
          <p:cNvSpPr txBox="1"/>
          <p:nvPr/>
        </p:nvSpPr>
        <p:spPr>
          <a:xfrm>
            <a:off x="8294853" y="4661584"/>
            <a:ext cx="3206750" cy="646331"/>
          </a:xfrm>
          <a:prstGeom prst="rect">
            <a:avLst/>
          </a:prstGeom>
          <a:noFill/>
        </p:spPr>
        <p:txBody>
          <a:bodyPr wrap="square" rtlCol="0">
            <a:spAutoFit/>
          </a:bodyPr>
          <a:lstStyle/>
          <a:p>
            <a:r>
              <a:rPr lang="zh-TW" altLang="en-US" dirty="0"/>
              <a:t>授課教師</a:t>
            </a:r>
            <a:endParaRPr lang="en-US" altLang="zh-TW" dirty="0"/>
          </a:p>
          <a:p>
            <a:r>
              <a:rPr lang="zh-TW" altLang="en-US" dirty="0"/>
              <a:t>柯格鐘 教授</a:t>
            </a:r>
          </a:p>
        </p:txBody>
      </p:sp>
      <p:sp>
        <p:nvSpPr>
          <p:cNvPr id="5" name="文字方塊 4">
            <a:extLst>
              <a:ext uri="{FF2B5EF4-FFF2-40B4-BE49-F238E27FC236}">
                <a16:creationId xmlns:a16="http://schemas.microsoft.com/office/drawing/2014/main" id="{241CAE32-62EF-B624-91E1-DFB2B313CB90}"/>
              </a:ext>
            </a:extLst>
          </p:cNvPr>
          <p:cNvSpPr txBox="1"/>
          <p:nvPr/>
        </p:nvSpPr>
        <p:spPr>
          <a:xfrm>
            <a:off x="8488528" y="683620"/>
            <a:ext cx="2819400" cy="369332"/>
          </a:xfrm>
          <a:prstGeom prst="rect">
            <a:avLst/>
          </a:prstGeom>
          <a:noFill/>
        </p:spPr>
        <p:txBody>
          <a:bodyPr wrap="square" rtlCol="0">
            <a:spAutoFit/>
          </a:bodyPr>
          <a:lstStyle/>
          <a:p>
            <a:r>
              <a:rPr lang="en-US" altLang="zh-TW" dirty="0"/>
              <a:t>114-1</a:t>
            </a:r>
            <a:r>
              <a:rPr lang="zh-TW" altLang="en-US" dirty="0"/>
              <a:t>稅捐規避專題討論</a:t>
            </a:r>
            <a:endParaRPr lang="en-US" altLang="zh-TW" dirty="0"/>
          </a:p>
        </p:txBody>
      </p:sp>
    </p:spTree>
    <p:extLst>
      <p:ext uri="{BB962C8B-B14F-4D97-AF65-F5344CB8AC3E}">
        <p14:creationId xmlns:p14="http://schemas.microsoft.com/office/powerpoint/2010/main" val="63364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E0410D-2960-8A05-B426-D68033325F3B}"/>
              </a:ext>
            </a:extLst>
          </p:cNvPr>
          <p:cNvSpPr>
            <a:spLocks noGrp="1"/>
          </p:cNvSpPr>
          <p:nvPr>
            <p:ph type="title"/>
          </p:nvPr>
        </p:nvSpPr>
        <p:spPr/>
        <p:txBody>
          <a:bodyPr/>
          <a:lstStyle/>
          <a:p>
            <a:r>
              <a:rPr lang="zh-TW" altLang="en-US" dirty="0"/>
              <a:t>大綱</a:t>
            </a:r>
          </a:p>
        </p:txBody>
      </p:sp>
      <p:sp>
        <p:nvSpPr>
          <p:cNvPr id="3" name="內容版面配置區 2">
            <a:extLst>
              <a:ext uri="{FF2B5EF4-FFF2-40B4-BE49-F238E27FC236}">
                <a16:creationId xmlns:a16="http://schemas.microsoft.com/office/drawing/2014/main" id="{65F4DA3B-5CCF-DF8C-5943-35FA54B38F84}"/>
              </a:ext>
            </a:extLst>
          </p:cNvPr>
          <p:cNvSpPr>
            <a:spLocks noGrp="1"/>
          </p:cNvSpPr>
          <p:nvPr>
            <p:ph idx="1"/>
          </p:nvPr>
        </p:nvSpPr>
        <p:spPr>
          <a:xfrm>
            <a:off x="1507722" y="2501711"/>
            <a:ext cx="8915400" cy="3777622"/>
          </a:xfrm>
        </p:spPr>
        <p:txBody>
          <a:bodyPr>
            <a:normAutofit/>
          </a:bodyPr>
          <a:lstStyle/>
          <a:p>
            <a:r>
              <a:rPr lang="zh-TW" altLang="en-US" dirty="0"/>
              <a:t>一、事實摘要</a:t>
            </a:r>
            <a:endParaRPr lang="en-US" altLang="zh-TW" dirty="0"/>
          </a:p>
          <a:p>
            <a:r>
              <a:rPr lang="zh-TW" altLang="en-US" dirty="0"/>
              <a:t>二、本件所設爭點</a:t>
            </a:r>
            <a:endParaRPr lang="en-US" altLang="zh-TW" dirty="0"/>
          </a:p>
          <a:p>
            <a:r>
              <a:rPr lang="zh-TW" altLang="en-US" dirty="0"/>
              <a:t>三、法院見解</a:t>
            </a:r>
            <a:endParaRPr lang="en-US" altLang="zh-TW" dirty="0"/>
          </a:p>
          <a:p>
            <a:r>
              <a:rPr lang="zh-TW" altLang="en-US" dirty="0"/>
              <a:t>四、本文評析</a:t>
            </a:r>
            <a:endParaRPr lang="en-US" altLang="zh-TW" dirty="0"/>
          </a:p>
          <a:p>
            <a:r>
              <a:rPr lang="zh-TW" altLang="en-US" dirty="0"/>
              <a:t>五、結論</a:t>
            </a:r>
          </a:p>
        </p:txBody>
      </p:sp>
    </p:spTree>
    <p:extLst>
      <p:ext uri="{BB962C8B-B14F-4D97-AF65-F5344CB8AC3E}">
        <p14:creationId xmlns:p14="http://schemas.microsoft.com/office/powerpoint/2010/main" val="1304030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8137B8-011B-BE04-493E-D5D943BF6186}"/>
              </a:ext>
            </a:extLst>
          </p:cNvPr>
          <p:cNvSpPr>
            <a:spLocks noGrp="1"/>
          </p:cNvSpPr>
          <p:nvPr>
            <p:ph type="title"/>
          </p:nvPr>
        </p:nvSpPr>
        <p:spPr/>
        <p:txBody>
          <a:bodyPr/>
          <a:lstStyle/>
          <a:p>
            <a:r>
              <a:rPr lang="zh-TW" altLang="en-US" dirty="0"/>
              <a:t>本件事實摘要</a:t>
            </a:r>
          </a:p>
        </p:txBody>
      </p:sp>
      <p:sp>
        <p:nvSpPr>
          <p:cNvPr id="3" name="內容版面配置區 2">
            <a:extLst>
              <a:ext uri="{FF2B5EF4-FFF2-40B4-BE49-F238E27FC236}">
                <a16:creationId xmlns:a16="http://schemas.microsoft.com/office/drawing/2014/main" id="{BF966A62-1CDB-82C2-E173-5D4F6FB43987}"/>
              </a:ext>
            </a:extLst>
          </p:cNvPr>
          <p:cNvSpPr>
            <a:spLocks noGrp="1"/>
          </p:cNvSpPr>
          <p:nvPr>
            <p:ph idx="1"/>
          </p:nvPr>
        </p:nvSpPr>
        <p:spPr/>
        <p:txBody>
          <a:bodyPr>
            <a:normAutofit fontScale="77500" lnSpcReduction="20000"/>
          </a:bodyPr>
          <a:lstStyle/>
          <a:p>
            <a:r>
              <a:rPr lang="zh-TW" altLang="zh-TW" dirty="0"/>
              <a:t>原告之父甲於</a:t>
            </a:r>
            <a:r>
              <a:rPr lang="en-US" altLang="zh-TW" dirty="0"/>
              <a:t>88</a:t>
            </a:r>
            <a:r>
              <a:rPr lang="zh-TW" altLang="zh-TW" dirty="0"/>
              <a:t>年</a:t>
            </a:r>
            <a:r>
              <a:rPr lang="en-US" altLang="zh-TW" dirty="0"/>
              <a:t>3</a:t>
            </a:r>
            <a:r>
              <a:rPr lang="zh-TW" altLang="zh-TW" dirty="0"/>
              <a:t>月</a:t>
            </a:r>
            <a:r>
              <a:rPr lang="en-US" altLang="zh-TW" dirty="0"/>
              <a:t>9</a:t>
            </a:r>
            <a:r>
              <a:rPr lang="zh-TW" altLang="zh-TW" dirty="0"/>
              <a:t>日投保壽險</a:t>
            </a:r>
            <a:r>
              <a:rPr lang="zh-TW" altLang="en-US" dirty="0"/>
              <a:t>，</a:t>
            </a:r>
            <a:r>
              <a:rPr lang="zh-TW" altLang="zh-TW" dirty="0"/>
              <a:t>並指定以甲之繼承人等為受益人</a:t>
            </a:r>
            <a:endParaRPr lang="en-US" altLang="zh-TW" dirty="0"/>
          </a:p>
          <a:p>
            <a:r>
              <a:rPr lang="zh-TW" altLang="zh-TW" dirty="0"/>
              <a:t>甲於</a:t>
            </a:r>
            <a:r>
              <a:rPr lang="en-US" altLang="zh-TW" dirty="0"/>
              <a:t>99</a:t>
            </a:r>
            <a:r>
              <a:rPr lang="zh-TW" altLang="zh-TW" dirty="0"/>
              <a:t>年</a:t>
            </a:r>
            <a:r>
              <a:rPr lang="en-US" altLang="zh-TW" dirty="0"/>
              <a:t>10</a:t>
            </a:r>
            <a:r>
              <a:rPr lang="zh-TW" altLang="zh-TW" dirty="0"/>
              <a:t>月</a:t>
            </a:r>
            <a:r>
              <a:rPr lang="en-US" altLang="zh-TW" dirty="0"/>
              <a:t>22</a:t>
            </a:r>
            <a:r>
              <a:rPr lang="zh-TW" altLang="zh-TW" dirty="0"/>
              <a:t>日死亡，繼承人</a:t>
            </a:r>
            <a:r>
              <a:rPr lang="zh-TW" altLang="en-US" dirty="0"/>
              <a:t>乙等於</a:t>
            </a:r>
            <a:r>
              <a:rPr lang="en-US" altLang="zh-TW" dirty="0"/>
              <a:t>100</a:t>
            </a:r>
            <a:r>
              <a:rPr lang="zh-TW" altLang="zh-TW" dirty="0"/>
              <a:t>年</a:t>
            </a:r>
            <a:r>
              <a:rPr lang="en-US" altLang="zh-TW" dirty="0"/>
              <a:t>3</a:t>
            </a:r>
            <a:r>
              <a:rPr lang="zh-TW" altLang="zh-TW" dirty="0"/>
              <a:t>月辦理遺產稅申報；並於同年</a:t>
            </a:r>
            <a:r>
              <a:rPr lang="en-US" altLang="zh-TW" dirty="0"/>
              <a:t>6</a:t>
            </a:r>
            <a:r>
              <a:rPr lang="zh-TW" altLang="zh-TW" dirty="0"/>
              <a:t>月</a:t>
            </a:r>
            <a:r>
              <a:rPr lang="en-US" altLang="zh-TW" dirty="0"/>
              <a:t>7</a:t>
            </a:r>
            <a:r>
              <a:rPr lang="zh-TW" altLang="zh-TW" dirty="0"/>
              <a:t>日辦理補申報，於</a:t>
            </a:r>
            <a:r>
              <a:rPr lang="en-US" altLang="zh-TW" dirty="0"/>
              <a:t>“</a:t>
            </a:r>
            <a:r>
              <a:rPr lang="zh-TW" altLang="zh-TW" dirty="0"/>
              <a:t>不計入遺產總額項</a:t>
            </a:r>
            <a:r>
              <a:rPr lang="en-US" altLang="zh-TW" dirty="0"/>
              <a:t>”</a:t>
            </a:r>
            <a:r>
              <a:rPr lang="zh-TW" altLang="zh-TW" dirty="0"/>
              <a:t>下，列報</a:t>
            </a:r>
            <a:r>
              <a:rPr lang="zh-TW" altLang="en-US" dirty="0"/>
              <a:t>本件之人壽</a:t>
            </a:r>
            <a:r>
              <a:rPr lang="zh-TW" altLang="zh-TW" dirty="0"/>
              <a:t>保險給付</a:t>
            </a:r>
            <a:r>
              <a:rPr lang="en-US" altLang="zh-TW" dirty="0"/>
              <a:t>8987700</a:t>
            </a:r>
            <a:r>
              <a:rPr lang="zh-TW" altLang="zh-TW" dirty="0"/>
              <a:t>元。</a:t>
            </a:r>
          </a:p>
          <a:p>
            <a:r>
              <a:rPr lang="zh-TW" altLang="zh-TW" dirty="0"/>
              <a:t>財政部臺灣省中區國稅局認</a:t>
            </a:r>
            <a:r>
              <a:rPr lang="zh-TW" altLang="en-US" dirty="0"/>
              <a:t>為</a:t>
            </a:r>
            <a:r>
              <a:rPr lang="zh-TW" altLang="zh-TW" dirty="0"/>
              <a:t>系爭保險給付中，屬複利增值保額</a:t>
            </a:r>
            <a:r>
              <a:rPr lang="en-US" altLang="zh-TW" dirty="0"/>
              <a:t>2387700</a:t>
            </a:r>
            <a:r>
              <a:rPr lang="zh-TW" altLang="zh-TW" dirty="0"/>
              <a:t>元及單利增值保額</a:t>
            </a:r>
            <a:r>
              <a:rPr lang="en-US" altLang="zh-TW" dirty="0"/>
              <a:t>3600000</a:t>
            </a:r>
            <a:r>
              <a:rPr lang="zh-TW" altLang="zh-TW" dirty="0"/>
              <a:t>元，合計</a:t>
            </a:r>
            <a:r>
              <a:rPr lang="en-US" altLang="zh-TW" dirty="0"/>
              <a:t>5987700</a:t>
            </a:r>
            <a:r>
              <a:rPr lang="zh-TW" altLang="zh-TW" dirty="0"/>
              <a:t>元部分，屬於儲蓄及年金性質之年金保險，不符前揭遺產及贈與稅法</a:t>
            </a:r>
            <a:r>
              <a:rPr lang="en-US" altLang="zh-TW" dirty="0"/>
              <a:t>16</a:t>
            </a:r>
            <a:r>
              <a:rPr lang="zh-TW" altLang="zh-TW" dirty="0"/>
              <a:t>條</a:t>
            </a:r>
            <a:r>
              <a:rPr lang="en-US" altLang="zh-TW" dirty="0"/>
              <a:t>9</a:t>
            </a:r>
            <a:r>
              <a:rPr lang="zh-TW" altLang="zh-TW" dirty="0"/>
              <a:t>款不計入遺產總額之規定，因此將係爭遺產給付核定併入遺產總額課徵遺產稅</a:t>
            </a:r>
            <a:r>
              <a:rPr lang="en-US" altLang="zh-TW" dirty="0"/>
              <a:t> </a:t>
            </a:r>
            <a:endParaRPr lang="zh-TW" altLang="zh-TW" dirty="0"/>
          </a:p>
          <a:p>
            <a:r>
              <a:rPr lang="zh-TW" altLang="zh-TW" dirty="0"/>
              <a:t>乙對於該核定計入遺產總額保額</a:t>
            </a:r>
            <a:r>
              <a:rPr lang="en-US" altLang="zh-TW" dirty="0"/>
              <a:t>5987700</a:t>
            </a:r>
            <a:r>
              <a:rPr lang="zh-TW" altLang="zh-TW" dirty="0"/>
              <a:t>元部分不服，申請復查後未獲變更，提起訴願遭決定駁回，因此循序提起本件行政訴訟</a:t>
            </a:r>
          </a:p>
          <a:p>
            <a:r>
              <a:rPr lang="zh-TW" altLang="zh-TW" dirty="0"/>
              <a:t>本</a:t>
            </a:r>
            <a:r>
              <a:rPr lang="zh-TW" altLang="en-US" dirty="0"/>
              <a:t>件</a:t>
            </a:r>
            <a:r>
              <a:rPr lang="zh-TW" altLang="zh-TW" dirty="0"/>
              <a:t>乙起訴後，台中高等行政法院做成</a:t>
            </a:r>
            <a:r>
              <a:rPr lang="en-US" altLang="zh-TW" dirty="0"/>
              <a:t>101</a:t>
            </a:r>
            <a:r>
              <a:rPr lang="zh-TW" altLang="zh-TW" dirty="0"/>
              <a:t>年訴字第</a:t>
            </a:r>
            <a:r>
              <a:rPr lang="en-US" altLang="zh-TW" dirty="0"/>
              <a:t>205</a:t>
            </a:r>
            <a:r>
              <a:rPr lang="zh-TW" altLang="zh-TW" dirty="0"/>
              <a:t>號判決，乙之訴全部駁回；乙上訴於最高行政法院後，做成</a:t>
            </a:r>
            <a:r>
              <a:rPr lang="en-US" altLang="zh-TW" dirty="0"/>
              <a:t>102</a:t>
            </a:r>
            <a:r>
              <a:rPr lang="zh-TW" altLang="zh-TW" dirty="0"/>
              <a:t>年判字第</a:t>
            </a:r>
            <a:r>
              <a:rPr lang="en-US" altLang="zh-TW" dirty="0"/>
              <a:t>227</a:t>
            </a:r>
            <a:r>
              <a:rPr lang="zh-TW" altLang="zh-TW" dirty="0"/>
              <a:t>號判決，乙再次敗訴，全案已告確定</a:t>
            </a:r>
          </a:p>
          <a:p>
            <a:endParaRPr lang="zh-TW" altLang="en-US" dirty="0"/>
          </a:p>
        </p:txBody>
      </p:sp>
    </p:spTree>
    <p:extLst>
      <p:ext uri="{BB962C8B-B14F-4D97-AF65-F5344CB8AC3E}">
        <p14:creationId xmlns:p14="http://schemas.microsoft.com/office/powerpoint/2010/main" val="3277533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45DF7D-2E2A-D876-89D6-8BCC3B799367}"/>
              </a:ext>
            </a:extLst>
          </p:cNvPr>
          <p:cNvSpPr>
            <a:spLocks noGrp="1"/>
          </p:cNvSpPr>
          <p:nvPr>
            <p:ph type="title"/>
          </p:nvPr>
        </p:nvSpPr>
        <p:spPr>
          <a:xfrm>
            <a:off x="1337697" y="712820"/>
            <a:ext cx="9712998" cy="1280890"/>
          </a:xfrm>
        </p:spPr>
        <p:txBody>
          <a:bodyPr>
            <a:normAutofit/>
          </a:bodyPr>
          <a:lstStyle/>
          <a:p>
            <a:r>
              <a:rPr lang="zh-TW" altLang="en-US" dirty="0"/>
              <a:t>甲的壽險保單由三部分構成</a:t>
            </a:r>
          </a:p>
        </p:txBody>
      </p:sp>
      <p:graphicFrame>
        <p:nvGraphicFramePr>
          <p:cNvPr id="25" name="內容版面配置區 2">
            <a:extLst>
              <a:ext uri="{FF2B5EF4-FFF2-40B4-BE49-F238E27FC236}">
                <a16:creationId xmlns:a16="http://schemas.microsoft.com/office/drawing/2014/main" id="{FB6F0A46-87A2-9B38-23D9-C2EBBD55708C}"/>
              </a:ext>
            </a:extLst>
          </p:cNvPr>
          <p:cNvGraphicFramePr>
            <a:graphicFrameLocks noGrp="1"/>
          </p:cNvGraphicFramePr>
          <p:nvPr>
            <p:ph idx="1"/>
            <p:extLst>
              <p:ext uri="{D42A27DB-BD31-4B8C-83A1-F6EECF244321}">
                <p14:modId xmlns:p14="http://schemas.microsoft.com/office/powerpoint/2010/main" val="182969906"/>
              </p:ext>
            </p:extLst>
          </p:nvPr>
        </p:nvGraphicFramePr>
        <p:xfrm>
          <a:off x="1794897" y="2222983"/>
          <a:ext cx="8987404" cy="36539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7383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3958CC-0BF0-C0FC-03F7-C83033952CB7}"/>
              </a:ext>
            </a:extLst>
          </p:cNvPr>
          <p:cNvSpPr>
            <a:spLocks noGrp="1"/>
          </p:cNvSpPr>
          <p:nvPr>
            <p:ph type="title"/>
          </p:nvPr>
        </p:nvSpPr>
        <p:spPr>
          <a:xfrm>
            <a:off x="1055599" y="1055077"/>
            <a:ext cx="2532909" cy="4794578"/>
          </a:xfrm>
        </p:spPr>
        <p:txBody>
          <a:bodyPr>
            <a:normAutofit/>
          </a:bodyPr>
          <a:lstStyle/>
          <a:p>
            <a:r>
              <a:rPr lang="zh-TW" altLang="zh-TW" b="1">
                <a:solidFill>
                  <a:srgbClr val="262626"/>
                </a:solidFill>
              </a:rPr>
              <a:t>本件所涉爭點</a:t>
            </a:r>
            <a:br>
              <a:rPr lang="zh-TW" altLang="zh-TW" b="1">
                <a:solidFill>
                  <a:srgbClr val="262626"/>
                </a:solidFill>
              </a:rPr>
            </a:br>
            <a:endParaRPr lang="zh-TW" altLang="en-US">
              <a:solidFill>
                <a:srgbClr val="262626"/>
              </a:solidFill>
            </a:endParaRPr>
          </a:p>
        </p:txBody>
      </p:sp>
      <p:graphicFrame>
        <p:nvGraphicFramePr>
          <p:cNvPr id="5" name="內容版面配置區 2">
            <a:extLst>
              <a:ext uri="{FF2B5EF4-FFF2-40B4-BE49-F238E27FC236}">
                <a16:creationId xmlns:a16="http://schemas.microsoft.com/office/drawing/2014/main" id="{FDFD5FD0-446C-9BDE-2851-583B8CC9FACD}"/>
              </a:ext>
            </a:extLst>
          </p:cNvPr>
          <p:cNvGraphicFramePr>
            <a:graphicFrameLocks noGrp="1"/>
          </p:cNvGraphicFramePr>
          <p:nvPr>
            <p:ph idx="1"/>
            <p:extLst>
              <p:ext uri="{D42A27DB-BD31-4B8C-83A1-F6EECF244321}">
                <p14:modId xmlns:p14="http://schemas.microsoft.com/office/powerpoint/2010/main" val="1006827423"/>
              </p:ext>
            </p:extLst>
          </p:nvPr>
        </p:nvGraphicFramePr>
        <p:xfrm>
          <a:off x="5470072" y="804670"/>
          <a:ext cx="5914209" cy="5248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1341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AEBACF-6C26-7F28-DD6F-F1FA4D856E9A}"/>
              </a:ext>
            </a:extLst>
          </p:cNvPr>
          <p:cNvSpPr>
            <a:spLocks noGrp="1"/>
          </p:cNvSpPr>
          <p:nvPr>
            <p:ph type="title"/>
          </p:nvPr>
        </p:nvSpPr>
        <p:spPr/>
        <p:txBody>
          <a:bodyPr>
            <a:normAutofit/>
          </a:bodyPr>
          <a:lstStyle/>
          <a:p>
            <a:r>
              <a:rPr lang="zh-TW" altLang="en-US">
                <a:solidFill>
                  <a:srgbClr val="262626"/>
                </a:solidFill>
              </a:rPr>
              <a:t>台中高等行政法院見解</a:t>
            </a:r>
          </a:p>
        </p:txBody>
      </p:sp>
      <p:sp>
        <p:nvSpPr>
          <p:cNvPr id="35" name="內容版面配置區 2">
            <a:extLst>
              <a:ext uri="{FF2B5EF4-FFF2-40B4-BE49-F238E27FC236}">
                <a16:creationId xmlns:a16="http://schemas.microsoft.com/office/drawing/2014/main" id="{74624769-E510-3805-9082-F5A17D1793A1}"/>
              </a:ext>
            </a:extLst>
          </p:cNvPr>
          <p:cNvSpPr>
            <a:spLocks noGrp="1"/>
          </p:cNvSpPr>
          <p:nvPr>
            <p:ph idx="1"/>
          </p:nvPr>
        </p:nvSpPr>
        <p:spPr>
          <a:xfrm>
            <a:off x="1295402" y="2556932"/>
            <a:ext cx="6256866" cy="3318936"/>
          </a:xfrm>
        </p:spPr>
        <p:txBody>
          <a:bodyPr>
            <a:normAutofit/>
          </a:bodyPr>
          <a:lstStyle/>
          <a:p>
            <a:pPr>
              <a:lnSpc>
                <a:spcPct val="90000"/>
              </a:lnSpc>
            </a:pPr>
            <a:endParaRPr lang="en-US" altLang="zh-TW" sz="1500" dirty="0">
              <a:solidFill>
                <a:srgbClr val="262626"/>
              </a:solidFill>
            </a:endParaRPr>
          </a:p>
          <a:p>
            <a:pPr>
              <a:lnSpc>
                <a:spcPct val="90000"/>
              </a:lnSpc>
            </a:pPr>
            <a:r>
              <a:rPr lang="zh-TW" altLang="en-US" sz="1800" dirty="0">
                <a:solidFill>
                  <a:srgbClr val="262626"/>
                </a:solidFill>
                <a:latin typeface="+mn-ea"/>
              </a:rPr>
              <a:t>一、 保單中單利、複利增值部分依照實質課稅原則應併計遺產稅，且實質課稅原則的適用，並不以有避稅行為為前提</a:t>
            </a:r>
            <a:endParaRPr lang="en-US" altLang="zh-TW" sz="1800" dirty="0">
              <a:solidFill>
                <a:srgbClr val="262626"/>
              </a:solidFill>
              <a:latin typeface="+mn-ea"/>
            </a:endParaRPr>
          </a:p>
          <a:p>
            <a:pPr marL="0" indent="0">
              <a:lnSpc>
                <a:spcPct val="90000"/>
              </a:lnSpc>
              <a:buNone/>
            </a:pPr>
            <a:r>
              <a:rPr lang="zh-TW" altLang="en-US" sz="1500" dirty="0">
                <a:solidFill>
                  <a:srgbClr val="262626"/>
                </a:solidFill>
                <a:latin typeface="+mn-ea"/>
              </a:rPr>
              <a:t>人壽保險給付得否不計入被繼承人遺產總額課徵遺產稅，應審酌個案投保內容，是否符合遺產及贈與稅法</a:t>
            </a:r>
            <a:r>
              <a:rPr lang="en-US" altLang="zh-TW" sz="1500" dirty="0">
                <a:solidFill>
                  <a:srgbClr val="262626"/>
                </a:solidFill>
                <a:latin typeface="+mn-ea"/>
              </a:rPr>
              <a:t>16</a:t>
            </a:r>
            <a:r>
              <a:rPr lang="zh-TW" altLang="en-US" sz="1500" dirty="0">
                <a:solidFill>
                  <a:srgbClr val="262626"/>
                </a:solidFill>
                <a:latin typeface="+mn-ea"/>
              </a:rPr>
              <a:t>條</a:t>
            </a:r>
            <a:r>
              <a:rPr lang="en-US" altLang="zh-TW" sz="1500" dirty="0">
                <a:solidFill>
                  <a:srgbClr val="262626"/>
                </a:solidFill>
                <a:latin typeface="+mn-ea"/>
              </a:rPr>
              <a:t>9</a:t>
            </a:r>
            <a:r>
              <a:rPr lang="zh-TW" altLang="en-US" sz="1500" dirty="0">
                <a:solidFill>
                  <a:srgbClr val="262626"/>
                </a:solidFill>
                <a:latin typeface="+mn-ea"/>
              </a:rPr>
              <a:t>款及保險法</a:t>
            </a:r>
            <a:r>
              <a:rPr lang="en-US" altLang="zh-TW" sz="1500" dirty="0">
                <a:solidFill>
                  <a:srgbClr val="262626"/>
                </a:solidFill>
                <a:latin typeface="+mn-ea"/>
              </a:rPr>
              <a:t>112</a:t>
            </a:r>
            <a:r>
              <a:rPr lang="zh-TW" altLang="en-US" sz="1500" dirty="0">
                <a:solidFill>
                  <a:srgbClr val="262626"/>
                </a:solidFill>
                <a:latin typeface="+mn-ea"/>
              </a:rPr>
              <a:t>條之規定，立法目的，如果符合始得將該保險給付列入免徵遺產稅之列</a:t>
            </a:r>
            <a:endParaRPr lang="en-US" altLang="zh-TW" sz="1500" dirty="0">
              <a:solidFill>
                <a:srgbClr val="262626"/>
              </a:solidFill>
              <a:latin typeface="+mn-ea"/>
            </a:endParaRPr>
          </a:p>
          <a:p>
            <a:pPr>
              <a:lnSpc>
                <a:spcPct val="90000"/>
              </a:lnSpc>
            </a:pPr>
            <a:r>
              <a:rPr lang="zh-TW" altLang="en-US" sz="1800" dirty="0">
                <a:solidFill>
                  <a:srgbClr val="262626"/>
                </a:solidFill>
                <a:latin typeface="+mn-ea"/>
              </a:rPr>
              <a:t>二、僅該主契約保險金額</a:t>
            </a:r>
            <a:r>
              <a:rPr lang="en-US" altLang="zh-TW" sz="1800" dirty="0">
                <a:solidFill>
                  <a:srgbClr val="262626"/>
                </a:solidFill>
                <a:latin typeface="+mn-ea"/>
              </a:rPr>
              <a:t>300</a:t>
            </a:r>
            <a:r>
              <a:rPr lang="zh-TW" altLang="en-US" sz="1800" dirty="0">
                <a:solidFill>
                  <a:srgbClr val="262626"/>
                </a:solidFill>
                <a:latin typeface="+mn-ea"/>
              </a:rPr>
              <a:t>萬元符合遺產及贈與稅法</a:t>
            </a:r>
            <a:r>
              <a:rPr lang="en-US" altLang="zh-TW" sz="1800" dirty="0">
                <a:solidFill>
                  <a:srgbClr val="262626"/>
                </a:solidFill>
                <a:latin typeface="+mn-ea"/>
              </a:rPr>
              <a:t>16</a:t>
            </a:r>
            <a:r>
              <a:rPr lang="zh-TW" altLang="en-US" sz="1800" dirty="0">
                <a:solidFill>
                  <a:srgbClr val="262626"/>
                </a:solidFill>
                <a:latin typeface="+mn-ea"/>
              </a:rPr>
              <a:t>條</a:t>
            </a:r>
            <a:r>
              <a:rPr lang="en-US" altLang="zh-TW" sz="1800" dirty="0">
                <a:solidFill>
                  <a:srgbClr val="262626"/>
                </a:solidFill>
                <a:latin typeface="+mn-ea"/>
              </a:rPr>
              <a:t>9</a:t>
            </a:r>
            <a:r>
              <a:rPr lang="zh-TW" altLang="en-US" sz="1800" dirty="0">
                <a:solidFill>
                  <a:srgbClr val="262626"/>
                </a:solidFill>
                <a:latin typeface="+mn-ea"/>
              </a:rPr>
              <a:t>款之立法目的免稅</a:t>
            </a:r>
            <a:endParaRPr lang="en-US" altLang="zh-TW" sz="1800" dirty="0">
              <a:solidFill>
                <a:srgbClr val="262626"/>
              </a:solidFill>
              <a:latin typeface="+mn-ea"/>
            </a:endParaRPr>
          </a:p>
          <a:p>
            <a:pPr marL="0" indent="0">
              <a:lnSpc>
                <a:spcPct val="90000"/>
              </a:lnSpc>
              <a:buNone/>
            </a:pPr>
            <a:r>
              <a:rPr lang="zh-CN" altLang="zh-TW" sz="1400" dirty="0">
                <a:solidFill>
                  <a:srgbClr val="262626"/>
                </a:solidFill>
                <a:latin typeface="PMingLiU" panose="02020500000000000000" pitchFamily="18" charset="-120"/>
                <a:ea typeface="PMingLiU" panose="02020500000000000000" pitchFamily="18" charset="-120"/>
              </a:rPr>
              <a:t>基於人壽保險係以該被保險人之壽命為保險標的，因此僅有定額保險之</a:t>
            </a:r>
            <a:r>
              <a:rPr lang="en-US" altLang="zh-TW" sz="1400" dirty="0">
                <a:solidFill>
                  <a:srgbClr val="262626"/>
                </a:solidFill>
                <a:latin typeface="PMingLiU" panose="02020500000000000000" pitchFamily="18" charset="-120"/>
                <a:ea typeface="PMingLiU" panose="02020500000000000000" pitchFamily="18" charset="-120"/>
              </a:rPr>
              <a:t>300</a:t>
            </a:r>
            <a:r>
              <a:rPr lang="zh-CN" altLang="zh-TW" sz="1400" dirty="0">
                <a:solidFill>
                  <a:srgbClr val="262626"/>
                </a:solidFill>
                <a:latin typeface="PMingLiU" panose="02020500000000000000" pitchFamily="18" charset="-120"/>
                <a:ea typeface="PMingLiU" panose="02020500000000000000" pitchFamily="18" charset="-120"/>
              </a:rPr>
              <a:t>萬元部分始符合遺產稅法</a:t>
            </a:r>
            <a:r>
              <a:rPr lang="en-US" altLang="zh-TW" sz="1400" dirty="0">
                <a:solidFill>
                  <a:srgbClr val="262626"/>
                </a:solidFill>
                <a:latin typeface="PMingLiU" panose="02020500000000000000" pitchFamily="18" charset="-120"/>
                <a:ea typeface="PMingLiU" panose="02020500000000000000" pitchFamily="18" charset="-120"/>
              </a:rPr>
              <a:t>16</a:t>
            </a:r>
            <a:r>
              <a:rPr lang="zh-CN" altLang="zh-TW" sz="1400" dirty="0">
                <a:solidFill>
                  <a:srgbClr val="262626"/>
                </a:solidFill>
                <a:latin typeface="PMingLiU" panose="02020500000000000000" pitchFamily="18" charset="-120"/>
                <a:ea typeface="PMingLiU" panose="02020500000000000000" pitchFamily="18" charset="-120"/>
              </a:rPr>
              <a:t>條</a:t>
            </a:r>
            <a:r>
              <a:rPr lang="en-US" altLang="zh-TW" sz="1400" dirty="0">
                <a:solidFill>
                  <a:srgbClr val="262626"/>
                </a:solidFill>
                <a:latin typeface="PMingLiU" panose="02020500000000000000" pitchFamily="18" charset="-120"/>
                <a:ea typeface="PMingLiU" panose="02020500000000000000" pitchFamily="18" charset="-120"/>
              </a:rPr>
              <a:t>9</a:t>
            </a:r>
            <a:r>
              <a:rPr lang="zh-CN" altLang="zh-TW" sz="1400" dirty="0">
                <a:solidFill>
                  <a:srgbClr val="262626"/>
                </a:solidFill>
                <a:latin typeface="PMingLiU" panose="02020500000000000000" pitchFamily="18" charset="-120"/>
                <a:ea typeface="PMingLiU" panose="02020500000000000000" pitchFamily="18" charset="-120"/>
              </a:rPr>
              <a:t>款之立法目的而免稅，其餘可增值的部分具有儲蓄性保險之特性，因此不可免稅</a:t>
            </a:r>
            <a:endParaRPr lang="zh-TW" altLang="en-US" sz="1400" dirty="0">
              <a:solidFill>
                <a:srgbClr val="262626"/>
              </a:solidFill>
              <a:latin typeface="PMingLiU" panose="02020500000000000000" pitchFamily="18" charset="-120"/>
              <a:ea typeface="PMingLiU" panose="02020500000000000000" pitchFamily="18" charset="-120"/>
            </a:endParaRPr>
          </a:p>
        </p:txBody>
      </p:sp>
      <p:pic>
        <p:nvPicPr>
          <p:cNvPr id="39" name="Graphic 38" descr="擴音器">
            <a:extLst>
              <a:ext uri="{FF2B5EF4-FFF2-40B4-BE49-F238E27FC236}">
                <a16:creationId xmlns:a16="http://schemas.microsoft.com/office/drawing/2014/main" id="{ADDA7B94-4D76-A207-5DAF-07DC4C4636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85026" y="2757636"/>
            <a:ext cx="2739728" cy="2739728"/>
          </a:xfrm>
          <a:prstGeom prst="rect">
            <a:avLst/>
          </a:prstGeom>
          <a:ln w="57150" cmpd="thickThin">
            <a:solidFill>
              <a:srgbClr val="7F7F7F"/>
            </a:solidFill>
            <a:miter lim="800000"/>
          </a:ln>
        </p:spPr>
      </p:pic>
    </p:spTree>
    <p:extLst>
      <p:ext uri="{BB962C8B-B14F-4D97-AF65-F5344CB8AC3E}">
        <p14:creationId xmlns:p14="http://schemas.microsoft.com/office/powerpoint/2010/main" val="3572639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4FCF57-4C39-FCF1-474D-D33CAD5EDFD3}"/>
              </a:ext>
            </a:extLst>
          </p:cNvPr>
          <p:cNvSpPr>
            <a:spLocks noGrp="1"/>
          </p:cNvSpPr>
          <p:nvPr>
            <p:ph type="title"/>
          </p:nvPr>
        </p:nvSpPr>
        <p:spPr/>
        <p:txBody>
          <a:bodyPr>
            <a:normAutofit/>
          </a:bodyPr>
          <a:lstStyle/>
          <a:p>
            <a:r>
              <a:rPr lang="zh-TW" altLang="zh-TW">
                <a:solidFill>
                  <a:srgbClr val="262626"/>
                </a:solidFill>
              </a:rPr>
              <a:t>最高行政法院</a:t>
            </a:r>
            <a:r>
              <a:rPr lang="zh-TW" altLang="en-US">
                <a:solidFill>
                  <a:srgbClr val="262626"/>
                </a:solidFill>
              </a:rPr>
              <a:t>見解</a:t>
            </a:r>
          </a:p>
        </p:txBody>
      </p:sp>
      <p:graphicFrame>
        <p:nvGraphicFramePr>
          <p:cNvPr id="5" name="內容版面配置區 2">
            <a:extLst>
              <a:ext uri="{FF2B5EF4-FFF2-40B4-BE49-F238E27FC236}">
                <a16:creationId xmlns:a16="http://schemas.microsoft.com/office/drawing/2014/main" id="{AFB3E63E-CDE6-11E3-202D-4BBE190FB97D}"/>
              </a:ext>
            </a:extLst>
          </p:cNvPr>
          <p:cNvGraphicFramePr>
            <a:graphicFrameLocks noGrp="1"/>
          </p:cNvGraphicFramePr>
          <p:nvPr>
            <p:ph idx="1"/>
            <p:extLst>
              <p:ext uri="{D42A27DB-BD31-4B8C-83A1-F6EECF244321}">
                <p14:modId xmlns:p14="http://schemas.microsoft.com/office/powerpoint/2010/main" val="607951178"/>
              </p:ext>
            </p:extLst>
          </p:nvPr>
        </p:nvGraphicFramePr>
        <p:xfrm>
          <a:off x="1295400" y="2772384"/>
          <a:ext cx="96011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1329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120E52-7029-6171-5223-1C03C0B4072E}"/>
              </a:ext>
            </a:extLst>
          </p:cNvPr>
          <p:cNvSpPr>
            <a:spLocks noGrp="1"/>
          </p:cNvSpPr>
          <p:nvPr>
            <p:ph type="title"/>
          </p:nvPr>
        </p:nvSpPr>
        <p:spPr>
          <a:xfrm>
            <a:off x="2692398" y="1871131"/>
            <a:ext cx="6815669" cy="1515533"/>
          </a:xfrm>
        </p:spPr>
        <p:txBody>
          <a:bodyPr vert="horz" lIns="91440" tIns="45720" rIns="91440" bIns="45720" rtlCol="0" anchor="b">
            <a:normAutofit/>
          </a:bodyPr>
          <a:lstStyle/>
          <a:p>
            <a:r>
              <a:rPr lang="zh-TW" altLang="en-US" sz="5400" dirty="0"/>
              <a:t>本文評析</a:t>
            </a:r>
          </a:p>
        </p:txBody>
      </p:sp>
      <p:sp>
        <p:nvSpPr>
          <p:cNvPr id="4" name="文字方塊 3">
            <a:extLst>
              <a:ext uri="{FF2B5EF4-FFF2-40B4-BE49-F238E27FC236}">
                <a16:creationId xmlns:a16="http://schemas.microsoft.com/office/drawing/2014/main" id="{EEE81D53-6386-CF96-C646-70DC151DE8FC}"/>
              </a:ext>
            </a:extLst>
          </p:cNvPr>
          <p:cNvSpPr txBox="1"/>
          <p:nvPr/>
        </p:nvSpPr>
        <p:spPr>
          <a:xfrm>
            <a:off x="2692398" y="3657597"/>
            <a:ext cx="6815669" cy="1320802"/>
          </a:xfrm>
          <a:prstGeom prst="rect">
            <a:avLst/>
          </a:prstGeom>
        </p:spPr>
        <p:txBody>
          <a:bodyPr vert="horz" lIns="91440" tIns="45720" rIns="91440" bIns="45720" rtlCol="0" anchor="t">
            <a:normAutofit/>
          </a:bodyPr>
          <a:lstStyle/>
          <a:p>
            <a:pPr algn="ctr">
              <a:spcBef>
                <a:spcPct val="20000"/>
              </a:spcBef>
              <a:spcAft>
                <a:spcPts val="600"/>
              </a:spcAft>
              <a:buClr>
                <a:schemeClr val="accent1"/>
              </a:buClr>
              <a:buSzPct val="115000"/>
            </a:pPr>
            <a:endParaRPr lang="zh-TW" altLang="en-US" sz="2100" dirty="0"/>
          </a:p>
        </p:txBody>
      </p:sp>
    </p:spTree>
    <p:extLst>
      <p:ext uri="{BB962C8B-B14F-4D97-AF65-F5344CB8AC3E}">
        <p14:creationId xmlns:p14="http://schemas.microsoft.com/office/powerpoint/2010/main" val="232437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3EEDAB-5857-C905-46FB-45DFD923DF8B}"/>
              </a:ext>
            </a:extLst>
          </p:cNvPr>
          <p:cNvSpPr>
            <a:spLocks noGrp="1"/>
          </p:cNvSpPr>
          <p:nvPr>
            <p:ph type="title"/>
          </p:nvPr>
        </p:nvSpPr>
        <p:spPr/>
        <p:txBody>
          <a:bodyPr/>
          <a:lstStyle/>
          <a:p>
            <a:r>
              <a:rPr lang="zh-TW" altLang="en-US" dirty="0"/>
              <a:t>稅捐規避行為與實質課稅原則的意義</a:t>
            </a:r>
          </a:p>
        </p:txBody>
      </p:sp>
      <p:graphicFrame>
        <p:nvGraphicFramePr>
          <p:cNvPr id="11" name="內容版面配置區 2">
            <a:extLst>
              <a:ext uri="{FF2B5EF4-FFF2-40B4-BE49-F238E27FC236}">
                <a16:creationId xmlns:a16="http://schemas.microsoft.com/office/drawing/2014/main" id="{93408D40-2554-D2C3-7DD4-678C0E4ECABB}"/>
              </a:ext>
            </a:extLst>
          </p:cNvPr>
          <p:cNvGraphicFramePr>
            <a:graphicFrameLocks noGrp="1"/>
          </p:cNvGraphicFramePr>
          <p:nvPr>
            <p:ph idx="1"/>
          </p:nvPr>
        </p:nvGraphicFramePr>
        <p:xfrm>
          <a:off x="1295401" y="2556932"/>
          <a:ext cx="9601196" cy="24927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箭號: 向右 3">
            <a:extLst>
              <a:ext uri="{FF2B5EF4-FFF2-40B4-BE49-F238E27FC236}">
                <a16:creationId xmlns:a16="http://schemas.microsoft.com/office/drawing/2014/main" id="{BDD36ABC-CE29-57DA-E36A-A5B7845F9EDC}"/>
              </a:ext>
            </a:extLst>
          </p:cNvPr>
          <p:cNvSpPr/>
          <p:nvPr/>
        </p:nvSpPr>
        <p:spPr>
          <a:xfrm>
            <a:off x="1295401" y="512445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A304C8E3-6B9C-F499-4C7F-8979F032BF44}"/>
              </a:ext>
            </a:extLst>
          </p:cNvPr>
          <p:cNvSpPr txBox="1"/>
          <p:nvPr/>
        </p:nvSpPr>
        <p:spPr>
          <a:xfrm>
            <a:off x="5645150" y="2971800"/>
            <a:ext cx="914400" cy="914400"/>
          </a:xfrm>
          <a:prstGeom prst="rect">
            <a:avLst/>
          </a:prstGeom>
          <a:noFill/>
        </p:spPr>
        <p:txBody>
          <a:bodyPr wrap="square" rtlCol="0">
            <a:spAutoFit/>
          </a:bodyPr>
          <a:lstStyle/>
          <a:p>
            <a:endParaRPr lang="zh-TW" altLang="en-US" dirty="0"/>
          </a:p>
        </p:txBody>
      </p:sp>
      <p:sp>
        <p:nvSpPr>
          <p:cNvPr id="8" name="文字方塊 7">
            <a:extLst>
              <a:ext uri="{FF2B5EF4-FFF2-40B4-BE49-F238E27FC236}">
                <a16:creationId xmlns:a16="http://schemas.microsoft.com/office/drawing/2014/main" id="{09F1A423-5962-8086-A402-FEE8AB76FCDA}"/>
              </a:ext>
            </a:extLst>
          </p:cNvPr>
          <p:cNvSpPr txBox="1"/>
          <p:nvPr/>
        </p:nvSpPr>
        <p:spPr>
          <a:xfrm>
            <a:off x="2273809" y="5049672"/>
            <a:ext cx="7804150" cy="646331"/>
          </a:xfrm>
          <a:prstGeom prst="rect">
            <a:avLst/>
          </a:prstGeom>
          <a:noFill/>
        </p:spPr>
        <p:txBody>
          <a:bodyPr wrap="square" rtlCol="0">
            <a:spAutoFit/>
          </a:bodyPr>
          <a:lstStyle/>
          <a:p>
            <a:r>
              <a:rPr lang="zh-TW" altLang="en-US" dirty="0"/>
              <a:t>納保法</a:t>
            </a:r>
            <a:r>
              <a:rPr lang="en-US" altLang="zh-TW" dirty="0"/>
              <a:t>7</a:t>
            </a:r>
            <a:r>
              <a:rPr lang="zh-TW" altLang="en-US" dirty="0"/>
              <a:t>條三項規定</a:t>
            </a:r>
            <a:r>
              <a:rPr lang="en-US" altLang="zh-TW" dirty="0"/>
              <a:t>:</a:t>
            </a:r>
            <a:r>
              <a:rPr lang="zh-TW" altLang="en-US" dirty="0"/>
              <a:t>行為人構成稅捐規避行為時，依照實質課稅原則成立租稅上請求權</a:t>
            </a:r>
          </a:p>
        </p:txBody>
      </p:sp>
    </p:spTree>
    <p:extLst>
      <p:ext uri="{BB962C8B-B14F-4D97-AF65-F5344CB8AC3E}">
        <p14:creationId xmlns:p14="http://schemas.microsoft.com/office/powerpoint/2010/main" val="2517365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2D271B-B113-EE3D-01FA-DAD68D3D3705}"/>
              </a:ext>
            </a:extLst>
          </p:cNvPr>
          <p:cNvSpPr>
            <a:spLocks noGrp="1"/>
          </p:cNvSpPr>
          <p:nvPr>
            <p:ph type="title"/>
          </p:nvPr>
        </p:nvSpPr>
        <p:spPr/>
        <p:txBody>
          <a:bodyPr>
            <a:normAutofit fontScale="90000"/>
          </a:bodyPr>
          <a:lstStyle/>
          <a:p>
            <a:r>
              <a:rPr lang="zh-TW" altLang="en-US" dirty="0"/>
              <a:t>稅捐規避行為的構成要件</a:t>
            </a:r>
            <a:r>
              <a:rPr lang="en-US" altLang="zh-TW" dirty="0"/>
              <a:t>:</a:t>
            </a:r>
            <a:r>
              <a:rPr lang="zh-TW" altLang="en-US" dirty="0"/>
              <a:t>納保法</a:t>
            </a:r>
            <a:r>
              <a:rPr lang="en-US" altLang="zh-TW" dirty="0"/>
              <a:t>7</a:t>
            </a:r>
            <a:r>
              <a:rPr lang="zh-TW" altLang="en-US" dirty="0"/>
              <a:t>條三項前段規定</a:t>
            </a:r>
          </a:p>
        </p:txBody>
      </p:sp>
      <p:sp>
        <p:nvSpPr>
          <p:cNvPr id="3" name="內容版面配置區 2">
            <a:extLst>
              <a:ext uri="{FF2B5EF4-FFF2-40B4-BE49-F238E27FC236}">
                <a16:creationId xmlns:a16="http://schemas.microsoft.com/office/drawing/2014/main" id="{632E2D27-E49A-E58D-B7BE-D5B671B77646}"/>
              </a:ext>
            </a:extLst>
          </p:cNvPr>
          <p:cNvSpPr>
            <a:spLocks noGrp="1"/>
          </p:cNvSpPr>
          <p:nvPr>
            <p:ph idx="1"/>
          </p:nvPr>
        </p:nvSpPr>
        <p:spPr/>
        <p:txBody>
          <a:bodyPr/>
          <a:lstStyle/>
          <a:p>
            <a:r>
              <a:rPr lang="zh-TW" altLang="zh-TW" dirty="0"/>
              <a:t>客觀構成要件</a:t>
            </a:r>
            <a:r>
              <a:rPr lang="en-US" altLang="zh-TW" dirty="0"/>
              <a:t>:</a:t>
            </a:r>
            <a:endParaRPr lang="zh-TW" altLang="zh-TW" dirty="0"/>
          </a:p>
          <a:p>
            <a:pPr marL="0" lvl="0" indent="0">
              <a:buNone/>
            </a:pPr>
            <a:r>
              <a:rPr lang="en-US" altLang="zh-TW" dirty="0"/>
              <a:t>1.</a:t>
            </a:r>
            <a:r>
              <a:rPr lang="zh-TW" altLang="zh-TW" dirty="0"/>
              <a:t>稅法上規範存在法律漏洞</a:t>
            </a:r>
          </a:p>
          <a:p>
            <a:pPr marL="0" lvl="0" indent="0">
              <a:buNone/>
            </a:pPr>
            <a:r>
              <a:rPr lang="en-US" altLang="zh-TW" dirty="0"/>
              <a:t>2.</a:t>
            </a:r>
            <a:r>
              <a:rPr lang="zh-TW" altLang="zh-TW" dirty="0"/>
              <a:t>納稅義務人濫用法律形成自由做成非常規行為</a:t>
            </a:r>
          </a:p>
          <a:p>
            <a:pPr marL="0" lvl="0" indent="0">
              <a:buNone/>
            </a:pPr>
            <a:r>
              <a:rPr lang="en-US" altLang="zh-TW" dirty="0"/>
              <a:t>3.</a:t>
            </a:r>
            <a:r>
              <a:rPr lang="zh-TW" altLang="zh-TW" dirty="0"/>
              <a:t>納稅義務人本人或納稅義務人親近之第三人因此取得</a:t>
            </a:r>
            <a:r>
              <a:rPr lang="zh-TW" altLang="zh-TW" dirty="0">
                <a:solidFill>
                  <a:schemeClr val="accent4"/>
                </a:solidFill>
              </a:rPr>
              <a:t>不當的稅捐利益</a:t>
            </a:r>
          </a:p>
          <a:p>
            <a:r>
              <a:rPr lang="zh-TW" altLang="zh-TW" dirty="0"/>
              <a:t>主觀構成要件</a:t>
            </a:r>
            <a:r>
              <a:rPr lang="en-US" altLang="zh-TW" dirty="0"/>
              <a:t>:</a:t>
            </a:r>
            <a:r>
              <a:rPr lang="zh-TW" altLang="zh-TW" dirty="0"/>
              <a:t>納稅義務人存在稅捐規避之意圖</a:t>
            </a:r>
          </a:p>
          <a:p>
            <a:endParaRPr lang="zh-TW" altLang="en-US" dirty="0"/>
          </a:p>
        </p:txBody>
      </p:sp>
    </p:spTree>
    <p:extLst>
      <p:ext uri="{BB962C8B-B14F-4D97-AF65-F5344CB8AC3E}">
        <p14:creationId xmlns:p14="http://schemas.microsoft.com/office/powerpoint/2010/main" val="821870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07F554-5516-1FDF-DC83-D1E28475B015}"/>
              </a:ext>
            </a:extLst>
          </p:cNvPr>
          <p:cNvSpPr>
            <a:spLocks noGrp="1"/>
          </p:cNvSpPr>
          <p:nvPr>
            <p:ph type="title"/>
          </p:nvPr>
        </p:nvSpPr>
        <p:spPr/>
        <p:txBody>
          <a:bodyPr>
            <a:noAutofit/>
          </a:bodyPr>
          <a:lstStyle/>
          <a:p>
            <a:r>
              <a:rPr lang="en-US" altLang="zh-TW" sz="4000" dirty="0">
                <a:latin typeface="PMingLiU" panose="02020500000000000000" pitchFamily="18" charset="-120"/>
                <a:ea typeface="PMingLiU" panose="02020500000000000000" pitchFamily="18" charset="-120"/>
              </a:rPr>
              <a:t>1.</a:t>
            </a:r>
            <a:r>
              <a:rPr lang="zh-CN" altLang="zh-TW" sz="4000" dirty="0">
                <a:latin typeface="PMingLiU" panose="02020500000000000000" pitchFamily="18" charset="-120"/>
                <a:ea typeface="PMingLiU" panose="02020500000000000000" pitchFamily="18" charset="-120"/>
              </a:rPr>
              <a:t>本案甲購買該保險增</a:t>
            </a:r>
            <a:r>
              <a:rPr lang="zh-TW" altLang="en-US" sz="4000" dirty="0">
                <a:latin typeface="PMingLiU" panose="02020500000000000000" pitchFamily="18" charset="-120"/>
                <a:ea typeface="PMingLiU" panose="02020500000000000000" pitchFamily="18" charset="-120"/>
              </a:rPr>
              <a:t>值</a:t>
            </a:r>
            <a:r>
              <a:rPr lang="zh-CN" altLang="zh-TW" sz="4000" dirty="0">
                <a:latin typeface="PMingLiU" panose="02020500000000000000" pitchFamily="18" charset="-120"/>
                <a:ea typeface="PMingLiU" panose="02020500000000000000" pitchFamily="18" charset="-120"/>
              </a:rPr>
              <a:t>之部分，應構成稅捐規避行為</a:t>
            </a:r>
            <a:r>
              <a:rPr lang="en-US" altLang="zh-TW" sz="4000" dirty="0">
                <a:latin typeface="PMingLiU" panose="02020500000000000000" pitchFamily="18" charset="-120"/>
                <a:ea typeface="PMingLiU" panose="02020500000000000000" pitchFamily="18" charset="-120"/>
              </a:rPr>
              <a:t> </a:t>
            </a:r>
            <a:endParaRPr lang="zh-TW" altLang="en-US" sz="4000" dirty="0">
              <a:latin typeface="PMingLiU" panose="02020500000000000000" pitchFamily="18" charset="-120"/>
              <a:ea typeface="PMingLiU" panose="02020500000000000000" pitchFamily="18" charset="-120"/>
            </a:endParaRPr>
          </a:p>
        </p:txBody>
      </p:sp>
      <p:sp>
        <p:nvSpPr>
          <p:cNvPr id="3" name="內容版面配置區 2">
            <a:extLst>
              <a:ext uri="{FF2B5EF4-FFF2-40B4-BE49-F238E27FC236}">
                <a16:creationId xmlns:a16="http://schemas.microsoft.com/office/drawing/2014/main" id="{19B42C71-B1E7-A632-54D4-95AFAAE42FF7}"/>
              </a:ext>
            </a:extLst>
          </p:cNvPr>
          <p:cNvSpPr>
            <a:spLocks noGrp="1"/>
          </p:cNvSpPr>
          <p:nvPr>
            <p:ph idx="1"/>
          </p:nvPr>
        </p:nvSpPr>
        <p:spPr/>
        <p:txBody>
          <a:bodyPr/>
          <a:lstStyle/>
          <a:p>
            <a:r>
              <a:rPr lang="en-US" altLang="zh-TW" dirty="0"/>
              <a:t>1.</a:t>
            </a:r>
            <a:r>
              <a:rPr lang="zh-TW" altLang="en-US" dirty="0"/>
              <a:t>人壽保險之保險金數額應具有定額性</a:t>
            </a:r>
            <a:r>
              <a:rPr lang="en-US" altLang="zh-TW" dirty="0"/>
              <a:t>:</a:t>
            </a:r>
            <a:r>
              <a:rPr lang="zh-CN" altLang="zh-TW" dirty="0"/>
              <a:t>甲所投保之保險，除主契約之保險金額</a:t>
            </a:r>
            <a:r>
              <a:rPr lang="en-US" altLang="zh-TW" dirty="0"/>
              <a:t>300</a:t>
            </a:r>
            <a:r>
              <a:rPr lang="zh-CN" altLang="zh-TW" dirty="0"/>
              <a:t>萬元外，係分別以單利</a:t>
            </a:r>
            <a:r>
              <a:rPr lang="en-US" altLang="zh-TW" dirty="0"/>
              <a:t>/</a:t>
            </a:r>
            <a:r>
              <a:rPr lang="zh-CN" altLang="zh-TW" dirty="0"/>
              <a:t>複利之增額保險形式計算其保險金額，即為利用稅法上已存在之法律漏洞，而違背稅法之法律目的</a:t>
            </a:r>
            <a:endParaRPr lang="en-US" altLang="zh-CN" dirty="0"/>
          </a:p>
          <a:p>
            <a:r>
              <a:rPr lang="en-US" altLang="zh-TW" dirty="0"/>
              <a:t>2.</a:t>
            </a:r>
            <a:r>
              <a:rPr lang="zh-TW" altLang="en-US" dirty="0"/>
              <a:t>甲在保險契約上之安排為濫用法律形成自由</a:t>
            </a:r>
            <a:r>
              <a:rPr lang="en-US" altLang="zh-TW" dirty="0"/>
              <a:t>:</a:t>
            </a:r>
            <a:r>
              <a:rPr lang="zh-CN" altLang="zh-TW" dirty="0"/>
              <a:t>甲首先透過名稱「身故保險金」之安排以混淆視聽，又約定以單利</a:t>
            </a:r>
            <a:r>
              <a:rPr lang="en-US" altLang="zh-TW" dirty="0"/>
              <a:t>/</a:t>
            </a:r>
            <a:r>
              <a:rPr lang="zh-CN" altLang="zh-TW" dirty="0"/>
              <a:t>複利之保險金計算方式而非人壽保險之定額，最後再主張其甲訂立之契約當中，並無儲蓄保險常見的，於「解約當年度應可全額領回所繳保費」之條款</a:t>
            </a:r>
            <a:endParaRPr lang="zh-TW" altLang="en-US" dirty="0"/>
          </a:p>
        </p:txBody>
      </p:sp>
    </p:spTree>
    <p:extLst>
      <p:ext uri="{BB962C8B-B14F-4D97-AF65-F5344CB8AC3E}">
        <p14:creationId xmlns:p14="http://schemas.microsoft.com/office/powerpoint/2010/main" val="3910562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DCA949-8416-51F3-ACCD-053E8DD1D56E}"/>
              </a:ext>
            </a:extLst>
          </p:cNvPr>
          <p:cNvSpPr>
            <a:spLocks noGrp="1"/>
          </p:cNvSpPr>
          <p:nvPr>
            <p:ph type="title"/>
          </p:nvPr>
        </p:nvSpPr>
        <p:spPr/>
        <p:txBody>
          <a:bodyPr>
            <a:normAutofit fontScale="90000"/>
          </a:bodyPr>
          <a:lstStyle/>
          <a:p>
            <a:r>
              <a:rPr lang="en-US" altLang="zh-TW" dirty="0">
                <a:latin typeface="PMingLiU" panose="02020500000000000000" pitchFamily="18" charset="-120"/>
                <a:ea typeface="PMingLiU" panose="02020500000000000000" pitchFamily="18" charset="-120"/>
              </a:rPr>
              <a:t>1.</a:t>
            </a:r>
            <a:r>
              <a:rPr lang="zh-CN" altLang="zh-TW" dirty="0">
                <a:latin typeface="PMingLiU" panose="02020500000000000000" pitchFamily="18" charset="-120"/>
                <a:ea typeface="PMingLiU" panose="02020500000000000000" pitchFamily="18" charset="-120"/>
              </a:rPr>
              <a:t>本案甲購買該保險增</a:t>
            </a:r>
            <a:r>
              <a:rPr lang="zh-TW" altLang="en-US" dirty="0">
                <a:latin typeface="PMingLiU" panose="02020500000000000000" pitchFamily="18" charset="-120"/>
                <a:ea typeface="PMingLiU" panose="02020500000000000000" pitchFamily="18" charset="-120"/>
              </a:rPr>
              <a:t>值</a:t>
            </a:r>
            <a:r>
              <a:rPr lang="zh-CN" altLang="zh-TW" dirty="0">
                <a:latin typeface="PMingLiU" panose="02020500000000000000" pitchFamily="18" charset="-120"/>
                <a:ea typeface="PMingLiU" panose="02020500000000000000" pitchFamily="18" charset="-120"/>
              </a:rPr>
              <a:t>之部分，應構成稅捐規避行為</a:t>
            </a:r>
            <a:r>
              <a:rPr lang="en-US" altLang="zh-TW" dirty="0">
                <a:latin typeface="PMingLiU" panose="02020500000000000000" pitchFamily="18" charset="-120"/>
                <a:ea typeface="PMingLiU" panose="02020500000000000000" pitchFamily="18" charset="-120"/>
              </a:rPr>
              <a:t> </a:t>
            </a:r>
            <a:endParaRPr lang="zh-TW" altLang="en-US" dirty="0"/>
          </a:p>
        </p:txBody>
      </p:sp>
      <p:sp>
        <p:nvSpPr>
          <p:cNvPr id="3" name="內容版面配置區 2">
            <a:extLst>
              <a:ext uri="{FF2B5EF4-FFF2-40B4-BE49-F238E27FC236}">
                <a16:creationId xmlns:a16="http://schemas.microsoft.com/office/drawing/2014/main" id="{534D9602-837A-BF51-B9A9-A2B8E3D440B7}"/>
              </a:ext>
            </a:extLst>
          </p:cNvPr>
          <p:cNvSpPr>
            <a:spLocks noGrp="1"/>
          </p:cNvSpPr>
          <p:nvPr>
            <p:ph idx="1"/>
          </p:nvPr>
        </p:nvSpPr>
        <p:spPr/>
        <p:txBody>
          <a:bodyPr/>
          <a:lstStyle/>
          <a:p>
            <a:r>
              <a:rPr lang="en-US" altLang="zh-TW" dirty="0"/>
              <a:t>3.</a:t>
            </a:r>
            <a:r>
              <a:rPr lang="zh-CN" altLang="zh-TW" dirty="0"/>
              <a:t>甲係利用該遺產及贈與稅法</a:t>
            </a:r>
            <a:r>
              <a:rPr lang="en-US" altLang="zh-TW" dirty="0"/>
              <a:t>16</a:t>
            </a:r>
            <a:r>
              <a:rPr lang="zh-CN" altLang="zh-TW" dirty="0"/>
              <a:t>條</a:t>
            </a:r>
            <a:r>
              <a:rPr lang="en-US" altLang="zh-TW" dirty="0"/>
              <a:t>9</a:t>
            </a:r>
            <a:r>
              <a:rPr lang="zh-CN" altLang="zh-TW" dirty="0"/>
              <a:t>款之漏洞，並且以非常規之保險契約內容獲得租稅利益，構成法律形式之濫用，且不存在其他稅捐以外的重要理由，以正當化其安排，而該當稅捐規避行為之客觀要件</a:t>
            </a:r>
            <a:endParaRPr lang="en-US" altLang="zh-CN" dirty="0"/>
          </a:p>
          <a:p>
            <a:r>
              <a:rPr lang="zh-CN" altLang="zh-TW" dirty="0"/>
              <a:t>依學說之見解，</a:t>
            </a:r>
            <a:r>
              <a:rPr lang="zh-TW" altLang="en-US" dirty="0"/>
              <a:t>於該當稅捐規避行為之客觀構成要件時，</a:t>
            </a:r>
            <a:r>
              <a:rPr lang="zh-CN" altLang="zh-TW" dirty="0"/>
              <a:t>此時即應可推認甲具有稅捐規避之意圖，滿足主觀的構成要件。</a:t>
            </a:r>
            <a:r>
              <a:rPr lang="zh-TW" altLang="zh-TW" dirty="0"/>
              <a:t> </a:t>
            </a:r>
          </a:p>
          <a:p>
            <a:pPr marL="0" indent="0">
              <a:buNone/>
            </a:pPr>
            <a:endParaRPr lang="zh-TW" altLang="zh-TW" dirty="0"/>
          </a:p>
          <a:p>
            <a:endParaRPr lang="zh-TW" altLang="en-US" dirty="0"/>
          </a:p>
        </p:txBody>
      </p:sp>
    </p:spTree>
    <p:extLst>
      <p:ext uri="{BB962C8B-B14F-4D97-AF65-F5344CB8AC3E}">
        <p14:creationId xmlns:p14="http://schemas.microsoft.com/office/powerpoint/2010/main" val="1417151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D6D547-C485-A313-6091-86F14ADFC6D2}"/>
              </a:ext>
            </a:extLst>
          </p:cNvPr>
          <p:cNvSpPr>
            <a:spLocks noGrp="1"/>
          </p:cNvSpPr>
          <p:nvPr>
            <p:ph type="title"/>
          </p:nvPr>
        </p:nvSpPr>
        <p:spPr/>
        <p:txBody>
          <a:bodyPr>
            <a:normAutofit/>
          </a:bodyPr>
          <a:lstStyle/>
          <a:p>
            <a:r>
              <a:rPr lang="zh-TW" altLang="zh-TW" dirty="0"/>
              <a:t>稅捐規避行為之法律效果</a:t>
            </a:r>
            <a:endParaRPr lang="zh-TW" altLang="en-US" dirty="0"/>
          </a:p>
        </p:txBody>
      </p:sp>
      <p:sp>
        <p:nvSpPr>
          <p:cNvPr id="3" name="內容版面配置區 2">
            <a:extLst>
              <a:ext uri="{FF2B5EF4-FFF2-40B4-BE49-F238E27FC236}">
                <a16:creationId xmlns:a16="http://schemas.microsoft.com/office/drawing/2014/main" id="{ACAB8E27-C14C-7BE6-A537-709E8303FC23}"/>
              </a:ext>
            </a:extLst>
          </p:cNvPr>
          <p:cNvSpPr>
            <a:spLocks noGrp="1"/>
          </p:cNvSpPr>
          <p:nvPr>
            <p:ph idx="1"/>
          </p:nvPr>
        </p:nvSpPr>
        <p:spPr/>
        <p:txBody>
          <a:bodyPr>
            <a:normAutofit/>
          </a:bodyPr>
          <a:lstStyle/>
          <a:p>
            <a:r>
              <a:rPr lang="zh-CN" altLang="zh-TW" sz="2000" dirty="0">
                <a:latin typeface="PMingLiU" panose="02020500000000000000" pitchFamily="18" charset="-120"/>
                <a:ea typeface="PMingLiU" panose="02020500000000000000" pitchFamily="18" charset="-120"/>
              </a:rPr>
              <a:t>納稅者權利保護法第</a:t>
            </a:r>
            <a:r>
              <a:rPr lang="en-US" altLang="zh-TW" sz="2000" dirty="0">
                <a:latin typeface="PMingLiU" panose="02020500000000000000" pitchFamily="18" charset="-120"/>
                <a:ea typeface="PMingLiU" panose="02020500000000000000" pitchFamily="18" charset="-120"/>
              </a:rPr>
              <a:t> 7 </a:t>
            </a:r>
            <a:r>
              <a:rPr lang="zh-CN" altLang="zh-TW" sz="2000" dirty="0">
                <a:latin typeface="PMingLiU" panose="02020500000000000000" pitchFamily="18" charset="-120"/>
                <a:ea typeface="PMingLiU" panose="02020500000000000000" pitchFamily="18" charset="-120"/>
              </a:rPr>
              <a:t>條第</a:t>
            </a:r>
            <a:r>
              <a:rPr lang="en-US" altLang="zh-TW" sz="2000" dirty="0">
                <a:latin typeface="PMingLiU" panose="02020500000000000000" pitchFamily="18" charset="-120"/>
                <a:ea typeface="PMingLiU" panose="02020500000000000000" pitchFamily="18" charset="-120"/>
              </a:rPr>
              <a:t> 3 </a:t>
            </a:r>
            <a:r>
              <a:rPr lang="zh-CN" altLang="zh-TW" sz="2000" dirty="0">
                <a:latin typeface="PMingLiU" panose="02020500000000000000" pitchFamily="18" charset="-120"/>
                <a:ea typeface="PMingLiU" panose="02020500000000000000" pitchFamily="18" charset="-120"/>
              </a:rPr>
              <a:t>項後段規定，為稅捐規避行為之法律效果，依該條規定：「稅捐稽徵機關仍根據與實質上經濟利益相當之法律形式，成立租稅上請求權，並加徵滯納金及利息」</a:t>
            </a:r>
            <a:endParaRPr lang="en-US" altLang="zh-CN" sz="2000" dirty="0">
              <a:latin typeface="PMingLiU" panose="02020500000000000000" pitchFamily="18" charset="-120"/>
              <a:ea typeface="PMingLiU" panose="02020500000000000000" pitchFamily="18" charset="-120"/>
            </a:endParaRPr>
          </a:p>
          <a:p>
            <a:r>
              <a:rPr lang="zh-CN" altLang="zh-TW" sz="2000" dirty="0">
                <a:latin typeface="PMingLiU" panose="02020500000000000000" pitchFamily="18" charset="-120"/>
                <a:ea typeface="PMingLiU" panose="02020500000000000000" pitchFamily="18" charset="-120"/>
              </a:rPr>
              <a:t>調整當事人之經濟實質以求符合量能課稅原則</a:t>
            </a:r>
            <a:endParaRPr lang="en-US" altLang="zh-CN" sz="2000" dirty="0">
              <a:latin typeface="PMingLiU" panose="02020500000000000000" pitchFamily="18" charset="-120"/>
              <a:ea typeface="PMingLiU" panose="02020500000000000000" pitchFamily="18" charset="-120"/>
            </a:endParaRPr>
          </a:p>
          <a:p>
            <a:r>
              <a:rPr lang="zh-TW" altLang="en-US" sz="2000" dirty="0">
                <a:latin typeface="PMingLiU" panose="02020500000000000000" pitchFamily="18" charset="-120"/>
                <a:ea typeface="PMingLiU" panose="02020500000000000000" pitchFamily="18" charset="-120"/>
              </a:rPr>
              <a:t>本件稅捐稽徵機關、法院之見解</a:t>
            </a:r>
            <a:r>
              <a:rPr lang="en-US" altLang="zh-TW" sz="2000" dirty="0">
                <a:latin typeface="PMingLiU" panose="02020500000000000000" pitchFamily="18" charset="-120"/>
                <a:ea typeface="PMingLiU" panose="02020500000000000000" pitchFamily="18" charset="-120"/>
              </a:rPr>
              <a:t>:</a:t>
            </a:r>
            <a:r>
              <a:rPr lang="zh-TW" altLang="zh-TW" dirty="0"/>
              <a:t>僅</a:t>
            </a:r>
            <a:r>
              <a:rPr lang="en-US" altLang="zh-TW" dirty="0"/>
              <a:t>300</a:t>
            </a:r>
            <a:r>
              <a:rPr lang="zh-TW" altLang="zh-TW" dirty="0"/>
              <a:t>萬元主契約部分免納遺產稅。</a:t>
            </a:r>
            <a:endParaRPr lang="en-US" altLang="zh-TW" dirty="0"/>
          </a:p>
          <a:p>
            <a:r>
              <a:rPr lang="zh-TW" altLang="en-US" dirty="0"/>
              <a:t>本文見解</a:t>
            </a:r>
            <a:r>
              <a:rPr lang="en-US" altLang="zh-TW" dirty="0"/>
              <a:t>:</a:t>
            </a:r>
            <a:r>
              <a:rPr lang="zh-TW" altLang="en-US" dirty="0"/>
              <a:t>應考慮市場定存之利率決定</a:t>
            </a:r>
            <a:endParaRPr lang="en-US" altLang="zh-TW" dirty="0"/>
          </a:p>
          <a:p>
            <a:endParaRPr lang="zh-TW" altLang="zh-TW" dirty="0"/>
          </a:p>
          <a:p>
            <a:endParaRPr lang="zh-TW" altLang="en-US" sz="2000" dirty="0">
              <a:latin typeface="PMingLiU" panose="02020500000000000000" pitchFamily="18" charset="-120"/>
              <a:ea typeface="PMingLiU" panose="02020500000000000000" pitchFamily="18" charset="-120"/>
            </a:endParaRPr>
          </a:p>
        </p:txBody>
      </p:sp>
    </p:spTree>
    <p:extLst>
      <p:ext uri="{BB962C8B-B14F-4D97-AF65-F5344CB8AC3E}">
        <p14:creationId xmlns:p14="http://schemas.microsoft.com/office/powerpoint/2010/main" val="3622505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D6C25C-F48E-6F99-CA30-3DE73A216F92}"/>
              </a:ext>
            </a:extLst>
          </p:cNvPr>
          <p:cNvSpPr>
            <a:spLocks noGrp="1"/>
          </p:cNvSpPr>
          <p:nvPr>
            <p:ph type="title"/>
          </p:nvPr>
        </p:nvSpPr>
        <p:spPr/>
        <p:txBody>
          <a:bodyPr>
            <a:normAutofit/>
          </a:bodyPr>
          <a:lstStyle/>
          <a:p>
            <a:r>
              <a:rPr lang="en-US" altLang="zh-TW" sz="3200" dirty="0"/>
              <a:t>2.</a:t>
            </a:r>
            <a:r>
              <a:rPr lang="zh-TW" altLang="zh-TW" sz="3200" dirty="0"/>
              <a:t>應適用實質課稅原則調整稅負，</a:t>
            </a:r>
            <a:r>
              <a:rPr lang="zh-TW" altLang="en-US" sz="3200" dirty="0"/>
              <a:t>但</a:t>
            </a:r>
            <a:r>
              <a:rPr lang="zh-TW" altLang="zh-TW" sz="3200" dirty="0"/>
              <a:t>決定不計入遺產總額之保險給付時應考量市場定存之利率</a:t>
            </a:r>
            <a:endParaRPr lang="zh-TW" altLang="en-US" sz="3200" dirty="0"/>
          </a:p>
        </p:txBody>
      </p:sp>
      <p:sp>
        <p:nvSpPr>
          <p:cNvPr id="3" name="內容版面配置區 2">
            <a:extLst>
              <a:ext uri="{FF2B5EF4-FFF2-40B4-BE49-F238E27FC236}">
                <a16:creationId xmlns:a16="http://schemas.microsoft.com/office/drawing/2014/main" id="{F09A37D0-3347-F9EE-3E3D-21A8179FCD60}"/>
              </a:ext>
            </a:extLst>
          </p:cNvPr>
          <p:cNvSpPr>
            <a:spLocks noGrp="1"/>
          </p:cNvSpPr>
          <p:nvPr>
            <p:ph idx="1"/>
          </p:nvPr>
        </p:nvSpPr>
        <p:spPr/>
        <p:txBody>
          <a:bodyPr>
            <a:normAutofit/>
          </a:bodyPr>
          <a:lstStyle/>
          <a:p>
            <a:r>
              <a:rPr lang="zh-CN" altLang="zh-TW" dirty="0"/>
              <a:t>實質課稅原則調整納稅義務人稅捐之目的，係為正確衡量納稅義務人之稅捐負擔能力，以符合量能課稅原則</a:t>
            </a:r>
            <a:endParaRPr lang="en-US" altLang="zh-CN" dirty="0"/>
          </a:p>
          <a:p>
            <a:r>
              <a:rPr lang="zh-CN" altLang="zh-TW" dirty="0"/>
              <a:t>保險</a:t>
            </a:r>
            <a:r>
              <a:rPr lang="zh-TW" altLang="en-US" dirty="0"/>
              <a:t>金</a:t>
            </a:r>
            <a:r>
              <a:rPr lang="zh-CN" altLang="zh-TW" dirty="0"/>
              <a:t>不大於市場定存可得之報酬時，即屬於為取得轉換為保險金給付地位之非常態交易，此時即構成另一種態樣的稅捐規避行為</a:t>
            </a:r>
            <a:endParaRPr lang="en-US" altLang="zh-CN" dirty="0"/>
          </a:p>
          <a:p>
            <a:r>
              <a:rPr lang="zh-TW" altLang="zh-TW" dirty="0"/>
              <a:t>相對的，納稅義務人亦係期待至少保險給付可高於</a:t>
            </a:r>
            <a:r>
              <a:rPr lang="zh-TW" altLang="en-US" dirty="0"/>
              <a:t>同金額之</a:t>
            </a:r>
            <a:r>
              <a:rPr lang="zh-TW" altLang="zh-TW" dirty="0"/>
              <a:t>市場定存時，人壽保險始有投保之動機，亦與鼓勵國人投保保險之立法目的相符。</a:t>
            </a:r>
          </a:p>
          <a:p>
            <a:endParaRPr lang="zh-TW" altLang="en-US" dirty="0"/>
          </a:p>
        </p:txBody>
      </p:sp>
    </p:spTree>
    <p:extLst>
      <p:ext uri="{BB962C8B-B14F-4D97-AF65-F5344CB8AC3E}">
        <p14:creationId xmlns:p14="http://schemas.microsoft.com/office/powerpoint/2010/main" val="1761110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11313D-9948-5915-16E4-C67D425FB3D9}"/>
              </a:ext>
            </a:extLst>
          </p:cNvPr>
          <p:cNvSpPr>
            <a:spLocks noGrp="1"/>
          </p:cNvSpPr>
          <p:nvPr>
            <p:ph type="title"/>
          </p:nvPr>
        </p:nvSpPr>
        <p:spPr/>
        <p:txBody>
          <a:bodyPr>
            <a:normAutofit/>
          </a:bodyPr>
          <a:lstStyle/>
          <a:p>
            <a:r>
              <a:rPr lang="en-US" altLang="zh-TW" sz="3200" dirty="0"/>
              <a:t>2.</a:t>
            </a:r>
            <a:r>
              <a:rPr lang="zh-TW" altLang="zh-TW" sz="3200" dirty="0"/>
              <a:t>應適用實質課稅原則調整稅負，</a:t>
            </a:r>
            <a:r>
              <a:rPr lang="zh-TW" altLang="en-US" sz="3200" dirty="0"/>
              <a:t>但</a:t>
            </a:r>
            <a:r>
              <a:rPr lang="zh-TW" altLang="zh-TW" sz="3200" dirty="0"/>
              <a:t>決定不計入遺產總額之保險給付時應考量市場定存之利率</a:t>
            </a:r>
            <a:endParaRPr lang="zh-TW" altLang="en-US" sz="3200" dirty="0"/>
          </a:p>
        </p:txBody>
      </p:sp>
      <p:sp>
        <p:nvSpPr>
          <p:cNvPr id="3" name="內容版面配置區 2">
            <a:extLst>
              <a:ext uri="{FF2B5EF4-FFF2-40B4-BE49-F238E27FC236}">
                <a16:creationId xmlns:a16="http://schemas.microsoft.com/office/drawing/2014/main" id="{89A2FC41-AD30-3F6A-96C5-92534505EA40}"/>
              </a:ext>
            </a:extLst>
          </p:cNvPr>
          <p:cNvSpPr>
            <a:spLocks noGrp="1"/>
          </p:cNvSpPr>
          <p:nvPr>
            <p:ph idx="1"/>
          </p:nvPr>
        </p:nvSpPr>
        <p:spPr/>
        <p:txBody>
          <a:bodyPr/>
          <a:lstStyle/>
          <a:p>
            <a:r>
              <a:rPr lang="zh-TW" altLang="en-US" dirty="0">
                <a:latin typeface="+mn-ea"/>
              </a:rPr>
              <a:t>基於實質課稅原則，稽徵機關為符合量能課稅原則，僅能調整當事人稅捐負擔至其投保當時應有的負擔程度</a:t>
            </a:r>
            <a:endParaRPr lang="en-US" altLang="zh-TW" dirty="0">
              <a:latin typeface="+mn-ea"/>
            </a:endParaRPr>
          </a:p>
          <a:p>
            <a:r>
              <a:rPr lang="zh-CN" altLang="zh-TW" dirty="0">
                <a:latin typeface="PMingLiU" panose="02020500000000000000" pitchFamily="18" charset="-120"/>
                <a:ea typeface="PMingLiU" panose="02020500000000000000" pitchFamily="18" charset="-120"/>
              </a:rPr>
              <a:t>甲係於民國</a:t>
            </a:r>
            <a:r>
              <a:rPr lang="en-US" altLang="zh-TW" dirty="0">
                <a:latin typeface="PMingLiU" panose="02020500000000000000" pitchFamily="18" charset="-120"/>
                <a:ea typeface="PMingLiU" panose="02020500000000000000" pitchFamily="18" charset="-120"/>
              </a:rPr>
              <a:t>88</a:t>
            </a:r>
            <a:r>
              <a:rPr lang="zh-CN" altLang="zh-TW" dirty="0">
                <a:latin typeface="PMingLiU" panose="02020500000000000000" pitchFamily="18" charset="-120"/>
                <a:ea typeface="PMingLiU" panose="02020500000000000000" pitchFamily="18" charset="-120"/>
              </a:rPr>
              <a:t>年</a:t>
            </a:r>
            <a:r>
              <a:rPr lang="en-US" altLang="zh-TW" dirty="0">
                <a:latin typeface="PMingLiU" panose="02020500000000000000" pitchFamily="18" charset="-120"/>
                <a:ea typeface="PMingLiU" panose="02020500000000000000" pitchFamily="18" charset="-120"/>
              </a:rPr>
              <a:t>3</a:t>
            </a:r>
            <a:r>
              <a:rPr lang="zh-CN" altLang="zh-TW" dirty="0">
                <a:latin typeface="PMingLiU" panose="02020500000000000000" pitchFamily="18" charset="-120"/>
                <a:ea typeface="PMingLiU" panose="02020500000000000000" pitchFamily="18" charset="-120"/>
              </a:rPr>
              <a:t>月</a:t>
            </a:r>
            <a:r>
              <a:rPr lang="en-US" altLang="zh-TW" dirty="0">
                <a:latin typeface="PMingLiU" panose="02020500000000000000" pitchFamily="18" charset="-120"/>
                <a:ea typeface="PMingLiU" panose="02020500000000000000" pitchFamily="18" charset="-120"/>
              </a:rPr>
              <a:t>9</a:t>
            </a:r>
            <a:r>
              <a:rPr lang="zh-CN" altLang="zh-TW" dirty="0">
                <a:latin typeface="PMingLiU" panose="02020500000000000000" pitchFamily="18" charset="-120"/>
                <a:ea typeface="PMingLiU" panose="02020500000000000000" pitchFamily="18" charset="-120"/>
              </a:rPr>
              <a:t>日投保該人壽保險，參考該日之台灣銀行定存利率為</a:t>
            </a:r>
            <a:r>
              <a:rPr lang="en-US" altLang="zh-TW" dirty="0">
                <a:latin typeface="+mn-ea"/>
              </a:rPr>
              <a:t>5.25%</a:t>
            </a:r>
            <a:r>
              <a:rPr lang="zh-TW" altLang="en-US" dirty="0">
                <a:latin typeface="+mn-ea"/>
              </a:rPr>
              <a:t>，並且於民國</a:t>
            </a:r>
            <a:r>
              <a:rPr lang="en-US" altLang="zh-TW" dirty="0">
                <a:latin typeface="+mn-ea"/>
              </a:rPr>
              <a:t>100</a:t>
            </a:r>
            <a:r>
              <a:rPr lang="zh-TW" altLang="en-US" dirty="0">
                <a:latin typeface="+mn-ea"/>
              </a:rPr>
              <a:t>年</a:t>
            </a:r>
            <a:r>
              <a:rPr lang="en-US" altLang="zh-TW" dirty="0">
                <a:latin typeface="+mn-ea"/>
              </a:rPr>
              <a:t>6</a:t>
            </a:r>
            <a:r>
              <a:rPr lang="zh-TW" altLang="en-US" dirty="0">
                <a:latin typeface="+mn-ea"/>
              </a:rPr>
              <a:t>月</a:t>
            </a:r>
            <a:r>
              <a:rPr lang="en-US" altLang="zh-TW" dirty="0">
                <a:latin typeface="+mn-ea"/>
              </a:rPr>
              <a:t>7</a:t>
            </a:r>
            <a:r>
              <a:rPr lang="zh-TW" altLang="en-US" dirty="0">
                <a:latin typeface="+mn-ea"/>
              </a:rPr>
              <a:t>日補申報遺產稅，歷經</a:t>
            </a:r>
            <a:r>
              <a:rPr lang="en-US" altLang="zh-TW" dirty="0">
                <a:latin typeface="+mn-ea"/>
              </a:rPr>
              <a:t>12</a:t>
            </a:r>
            <a:r>
              <a:rPr lang="zh-TW" altLang="en-US" dirty="0">
                <a:latin typeface="+mn-ea"/>
              </a:rPr>
              <a:t>年依照單利計算</a:t>
            </a:r>
            <a:r>
              <a:rPr lang="en-US" altLang="zh-TW" dirty="0">
                <a:latin typeface="+mn-ea"/>
              </a:rPr>
              <a:t>:(3000000x5.25%)x12=4890000</a:t>
            </a:r>
            <a:r>
              <a:rPr lang="zh-TW" altLang="en-US" dirty="0">
                <a:latin typeface="+mn-ea"/>
              </a:rPr>
              <a:t>元</a:t>
            </a:r>
            <a:endParaRPr lang="en-US" altLang="zh-TW" dirty="0">
              <a:latin typeface="+mn-ea"/>
            </a:endParaRPr>
          </a:p>
          <a:p>
            <a:r>
              <a:rPr lang="zh-TW" altLang="en-US" dirty="0">
                <a:latin typeface="+mn-ea"/>
              </a:rPr>
              <a:t>在此金額以上部分才構成</a:t>
            </a:r>
            <a:r>
              <a:rPr lang="zh-TW" altLang="en-US" dirty="0">
                <a:solidFill>
                  <a:srgbClr val="FF0000"/>
                </a:solidFill>
                <a:latin typeface="+mn-ea"/>
              </a:rPr>
              <a:t>不當的稅捐利益</a:t>
            </a:r>
          </a:p>
        </p:txBody>
      </p:sp>
    </p:spTree>
    <p:extLst>
      <p:ext uri="{BB962C8B-B14F-4D97-AF65-F5344CB8AC3E}">
        <p14:creationId xmlns:p14="http://schemas.microsoft.com/office/powerpoint/2010/main" val="3831189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8943EA-269C-50D3-B2EC-C5115E344BE0}"/>
              </a:ext>
            </a:extLst>
          </p:cNvPr>
          <p:cNvSpPr>
            <a:spLocks noGrp="1"/>
          </p:cNvSpPr>
          <p:nvPr>
            <p:ph type="title"/>
          </p:nvPr>
        </p:nvSpPr>
        <p:spPr/>
        <p:txBody>
          <a:bodyPr>
            <a:noAutofit/>
          </a:bodyPr>
          <a:lstStyle/>
          <a:p>
            <a:r>
              <a:rPr lang="en-US" altLang="zh-TW" sz="3200" dirty="0"/>
              <a:t>3.</a:t>
            </a:r>
            <a:r>
              <a:rPr lang="zh-TW" altLang="zh-TW" sz="3200" dirty="0"/>
              <a:t>最高行政法院、高等法院對於實質課稅原則與稅捐規避行為間的關係，以及</a:t>
            </a:r>
            <a:r>
              <a:rPr lang="zh-TW" altLang="en-US" sz="3200" dirty="0"/>
              <a:t>稅捐規避行為</a:t>
            </a:r>
            <a:r>
              <a:rPr lang="zh-TW" altLang="zh-TW" sz="3200" dirty="0"/>
              <a:t>是否具有可罰性</a:t>
            </a:r>
            <a:r>
              <a:rPr lang="zh-TW" altLang="en-US" sz="3200" dirty="0"/>
              <a:t>之見解</a:t>
            </a:r>
            <a:r>
              <a:rPr lang="zh-TW" altLang="zh-TW" sz="3200" dirty="0"/>
              <a:t>有待商榷</a:t>
            </a:r>
            <a:endParaRPr lang="zh-TW" altLang="en-US" sz="3200" dirty="0"/>
          </a:p>
        </p:txBody>
      </p:sp>
      <p:sp>
        <p:nvSpPr>
          <p:cNvPr id="3" name="內容版面配置區 2">
            <a:extLst>
              <a:ext uri="{FF2B5EF4-FFF2-40B4-BE49-F238E27FC236}">
                <a16:creationId xmlns:a16="http://schemas.microsoft.com/office/drawing/2014/main" id="{933B038F-22B0-D25C-4D51-A0037D35983D}"/>
              </a:ext>
            </a:extLst>
          </p:cNvPr>
          <p:cNvSpPr>
            <a:spLocks noGrp="1"/>
          </p:cNvSpPr>
          <p:nvPr>
            <p:ph idx="1"/>
          </p:nvPr>
        </p:nvSpPr>
        <p:spPr/>
        <p:txBody>
          <a:bodyPr>
            <a:normAutofit/>
          </a:bodyPr>
          <a:lstStyle/>
          <a:p>
            <a:r>
              <a:rPr lang="zh-TW" altLang="en-US" dirty="0">
                <a:latin typeface="PMingLiU" panose="02020500000000000000" pitchFamily="18" charset="-120"/>
                <a:ea typeface="PMingLiU" panose="02020500000000000000" pitchFamily="18" charset="-120"/>
              </a:rPr>
              <a:t>學說見解</a:t>
            </a:r>
            <a:r>
              <a:rPr lang="en-US" altLang="zh-TW" dirty="0">
                <a:latin typeface="PMingLiU" panose="02020500000000000000" pitchFamily="18" charset="-120"/>
                <a:ea typeface="PMingLiU" panose="02020500000000000000" pitchFamily="18" charset="-120"/>
              </a:rPr>
              <a:t>:</a:t>
            </a:r>
            <a:r>
              <a:rPr lang="zh-CN" altLang="zh-TW" dirty="0">
                <a:latin typeface="PMingLiU" panose="02020500000000000000" pitchFamily="18" charset="-120"/>
                <a:ea typeface="PMingLiU" panose="02020500000000000000" pitchFamily="18" charset="-120"/>
              </a:rPr>
              <a:t>租稅規劃之行為，通常分為三種類型，即合法節稅、稅捐規避、違法逃漏稅三種</a:t>
            </a:r>
            <a:endParaRPr lang="en-US" altLang="zh-CN" dirty="0">
              <a:latin typeface="PMingLiU" panose="02020500000000000000" pitchFamily="18" charset="-120"/>
              <a:ea typeface="PMingLiU" panose="02020500000000000000" pitchFamily="18" charset="-120"/>
            </a:endParaRPr>
          </a:p>
          <a:p>
            <a:r>
              <a:rPr lang="zh-CN" altLang="zh-TW" dirty="0">
                <a:latin typeface="PMingLiU" panose="02020500000000000000" pitchFamily="18" charset="-120"/>
                <a:ea typeface="PMingLiU" panose="02020500000000000000" pitchFamily="18" charset="-120"/>
              </a:rPr>
              <a:t>合法節稅</a:t>
            </a:r>
            <a:r>
              <a:rPr lang="en-US" altLang="zh-TW" dirty="0">
                <a:latin typeface="PMingLiU" panose="02020500000000000000" pitchFamily="18" charset="-120"/>
                <a:ea typeface="PMingLiU" panose="02020500000000000000" pitchFamily="18" charset="-120"/>
              </a:rPr>
              <a:t>/</a:t>
            </a:r>
            <a:r>
              <a:rPr lang="zh-CN" altLang="zh-TW" dirty="0">
                <a:latin typeface="PMingLiU" panose="02020500000000000000" pitchFamily="18" charset="-120"/>
                <a:ea typeface="PMingLiU" panose="02020500000000000000" pitchFamily="18" charset="-120"/>
              </a:rPr>
              <a:t>稅捐規避</a:t>
            </a:r>
            <a:r>
              <a:rPr lang="zh-TW" altLang="en-US" dirty="0">
                <a:latin typeface="PMingLiU" panose="02020500000000000000" pitchFamily="18" charset="-120"/>
                <a:ea typeface="PMingLiU" panose="02020500000000000000" pitchFamily="18" charset="-120"/>
              </a:rPr>
              <a:t>區別</a:t>
            </a:r>
            <a:r>
              <a:rPr lang="en-US" altLang="zh-TW" dirty="0">
                <a:latin typeface="PMingLiU" panose="02020500000000000000" pitchFamily="18" charset="-120"/>
                <a:ea typeface="PMingLiU" panose="02020500000000000000" pitchFamily="18" charset="-120"/>
              </a:rPr>
              <a:t>:</a:t>
            </a:r>
            <a:r>
              <a:rPr lang="zh-TW" altLang="en-US" dirty="0">
                <a:latin typeface="PMingLiU" panose="02020500000000000000" pitchFamily="18" charset="-120"/>
                <a:ea typeface="PMingLiU" panose="02020500000000000000" pitchFamily="18" charset="-120"/>
              </a:rPr>
              <a:t>是否濫用法律行為自由而違背稅法規範之目的</a:t>
            </a:r>
            <a:endParaRPr lang="en-US" altLang="zh-TW" dirty="0">
              <a:latin typeface="PMingLiU" panose="02020500000000000000" pitchFamily="18" charset="-120"/>
              <a:ea typeface="PMingLiU" panose="02020500000000000000" pitchFamily="18" charset="-120"/>
            </a:endParaRPr>
          </a:p>
          <a:p>
            <a:r>
              <a:rPr lang="zh-CN" altLang="zh-TW" dirty="0">
                <a:latin typeface="PMingLiU" panose="02020500000000000000" pitchFamily="18" charset="-120"/>
                <a:ea typeface="PMingLiU" panose="02020500000000000000" pitchFamily="18" charset="-120"/>
              </a:rPr>
              <a:t>稅捐規避</a:t>
            </a:r>
            <a:r>
              <a:rPr lang="en-US" altLang="zh-TW" dirty="0">
                <a:latin typeface="PMingLiU" panose="02020500000000000000" pitchFamily="18" charset="-120"/>
                <a:ea typeface="PMingLiU" panose="02020500000000000000" pitchFamily="18" charset="-120"/>
              </a:rPr>
              <a:t>/</a:t>
            </a:r>
            <a:r>
              <a:rPr lang="zh-CN" altLang="zh-TW" dirty="0">
                <a:latin typeface="PMingLiU" panose="02020500000000000000" pitchFamily="18" charset="-120"/>
                <a:ea typeface="PMingLiU" panose="02020500000000000000" pitchFamily="18" charset="-120"/>
              </a:rPr>
              <a:t>違法逃漏稅</a:t>
            </a:r>
            <a:r>
              <a:rPr lang="zh-TW" altLang="en-US" dirty="0">
                <a:latin typeface="PMingLiU" panose="02020500000000000000" pitchFamily="18" charset="-120"/>
                <a:ea typeface="PMingLiU" panose="02020500000000000000" pitchFamily="18" charset="-120"/>
              </a:rPr>
              <a:t>區別</a:t>
            </a:r>
            <a:r>
              <a:rPr lang="en-US" altLang="zh-TW" dirty="0">
                <a:latin typeface="PMingLiU" panose="02020500000000000000" pitchFamily="18" charset="-120"/>
                <a:ea typeface="PMingLiU" panose="02020500000000000000" pitchFamily="18" charset="-120"/>
              </a:rPr>
              <a:t>:</a:t>
            </a:r>
            <a:r>
              <a:rPr lang="zh-TW" altLang="en-US" dirty="0">
                <a:latin typeface="PMingLiU" panose="02020500000000000000" pitchFamily="18" charset="-120"/>
                <a:ea typeface="PMingLiU" panose="02020500000000000000" pitchFamily="18" charset="-120"/>
              </a:rPr>
              <a:t>是否涉及</a:t>
            </a:r>
            <a:r>
              <a:rPr lang="zh-CN" altLang="zh-TW" dirty="0">
                <a:latin typeface="PMingLiU" panose="02020500000000000000" pitchFamily="18" charset="-120"/>
                <a:ea typeface="PMingLiU" panose="02020500000000000000" pitchFamily="18" charset="-120"/>
              </a:rPr>
              <a:t>稅法上構成要件相關之課稅事實本身為隱瞞而言，核心概念為納稅義務人在法律上有</a:t>
            </a:r>
            <a:r>
              <a:rPr lang="zh-CN" altLang="zh-TW" dirty="0">
                <a:solidFill>
                  <a:srgbClr val="FF0000"/>
                </a:solidFill>
                <a:latin typeface="PMingLiU" panose="02020500000000000000" pitchFamily="18" charset="-120"/>
                <a:ea typeface="PMingLiU" panose="02020500000000000000" pitchFamily="18" charset="-120"/>
              </a:rPr>
              <a:t>完全、即時、誠實的申報義務</a:t>
            </a:r>
            <a:endParaRPr lang="zh-TW" altLang="en-US" dirty="0">
              <a:solidFill>
                <a:srgbClr val="FF0000"/>
              </a:solidFill>
              <a:latin typeface="PMingLiU" panose="02020500000000000000" pitchFamily="18" charset="-120"/>
              <a:ea typeface="PMingLiU" panose="02020500000000000000" pitchFamily="18" charset="-120"/>
            </a:endParaRPr>
          </a:p>
        </p:txBody>
      </p:sp>
    </p:spTree>
    <p:extLst>
      <p:ext uri="{BB962C8B-B14F-4D97-AF65-F5344CB8AC3E}">
        <p14:creationId xmlns:p14="http://schemas.microsoft.com/office/powerpoint/2010/main" val="1560249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D05F57-D81F-0296-FB72-D0D2A7E8EADC}"/>
              </a:ext>
            </a:extLst>
          </p:cNvPr>
          <p:cNvSpPr>
            <a:spLocks noGrp="1"/>
          </p:cNvSpPr>
          <p:nvPr>
            <p:ph type="title"/>
          </p:nvPr>
        </p:nvSpPr>
        <p:spPr/>
        <p:txBody>
          <a:bodyPr/>
          <a:lstStyle/>
          <a:p>
            <a:r>
              <a:rPr lang="zh-TW" altLang="zh-TW" dirty="0"/>
              <a:t>最高法院見解應有待商榷</a:t>
            </a:r>
            <a:endParaRPr lang="zh-TW" altLang="en-US" dirty="0"/>
          </a:p>
        </p:txBody>
      </p:sp>
      <p:sp>
        <p:nvSpPr>
          <p:cNvPr id="3" name="內容版面配置區 2">
            <a:extLst>
              <a:ext uri="{FF2B5EF4-FFF2-40B4-BE49-F238E27FC236}">
                <a16:creationId xmlns:a16="http://schemas.microsoft.com/office/drawing/2014/main" id="{7DFF550D-C47B-2D20-0515-13D347176245}"/>
              </a:ext>
            </a:extLst>
          </p:cNvPr>
          <p:cNvSpPr>
            <a:spLocks noGrp="1"/>
          </p:cNvSpPr>
          <p:nvPr>
            <p:ph idx="1"/>
          </p:nvPr>
        </p:nvSpPr>
        <p:spPr/>
        <p:txBody>
          <a:bodyPr/>
          <a:lstStyle/>
          <a:p>
            <a:r>
              <a:rPr lang="zh-TW" altLang="zh-TW" dirty="0">
                <a:latin typeface="PMingLiU" panose="02020500000000000000" pitchFamily="18" charset="-120"/>
                <a:ea typeface="PMingLiU" panose="02020500000000000000" pitchFamily="18" charset="-120"/>
              </a:rPr>
              <a:t>實質課稅原則與稅捐規避行為為構成要件與法律效果之關係</a:t>
            </a:r>
            <a:r>
              <a:rPr lang="zh-TW" altLang="en-US" dirty="0">
                <a:latin typeface="PMingLiU" panose="02020500000000000000" pitchFamily="18" charset="-120"/>
                <a:ea typeface="PMingLiU" panose="02020500000000000000" pitchFamily="18" charset="-120"/>
              </a:rPr>
              <a:t>，本件中法院將其分開理解應為有誤</a:t>
            </a:r>
            <a:endParaRPr lang="en-US" altLang="zh-TW" dirty="0">
              <a:latin typeface="PMingLiU" panose="02020500000000000000" pitchFamily="18" charset="-120"/>
              <a:ea typeface="PMingLiU" panose="02020500000000000000" pitchFamily="18" charset="-120"/>
            </a:endParaRPr>
          </a:p>
          <a:p>
            <a:r>
              <a:rPr lang="zh-TW" altLang="en-US" dirty="0">
                <a:latin typeface="PMingLiU" panose="02020500000000000000" pitchFamily="18" charset="-120"/>
                <a:ea typeface="PMingLiU" panose="02020500000000000000" pitchFamily="18" charset="-120"/>
              </a:rPr>
              <a:t>最高法院、高等法院之見解易使人誤會</a:t>
            </a:r>
            <a:r>
              <a:rPr lang="en-US" altLang="zh-TW" dirty="0">
                <a:latin typeface="PMingLiU" panose="02020500000000000000" pitchFamily="18" charset="-120"/>
                <a:ea typeface="PMingLiU" panose="02020500000000000000" pitchFamily="18" charset="-120"/>
              </a:rPr>
              <a:t>:</a:t>
            </a:r>
            <a:r>
              <a:rPr lang="zh-TW" altLang="en-US" dirty="0">
                <a:latin typeface="PMingLiU" panose="02020500000000000000" pitchFamily="18" charset="-120"/>
                <a:ea typeface="PMingLiU" panose="02020500000000000000" pitchFamily="18" charset="-120"/>
              </a:rPr>
              <a:t>僅</a:t>
            </a:r>
            <a:r>
              <a:rPr lang="zh-CN" altLang="zh-TW" dirty="0">
                <a:latin typeface="PMingLiU" panose="02020500000000000000" pitchFamily="18" charset="-120"/>
                <a:ea typeface="PMingLiU" panose="02020500000000000000" pitchFamily="18" charset="-120"/>
              </a:rPr>
              <a:t>課稅</a:t>
            </a:r>
            <a:r>
              <a:rPr lang="zh-TW" altLang="en-US" dirty="0">
                <a:latin typeface="PMingLiU" panose="02020500000000000000" pitchFamily="18" charset="-120"/>
                <a:ea typeface="PMingLiU" panose="02020500000000000000" pitchFamily="18" charset="-120"/>
              </a:rPr>
              <a:t>相關</a:t>
            </a:r>
            <a:r>
              <a:rPr lang="zh-CN" altLang="zh-TW" dirty="0">
                <a:latin typeface="PMingLiU" panose="02020500000000000000" pitchFamily="18" charset="-120"/>
                <a:ea typeface="PMingLiU" panose="02020500000000000000" pitchFamily="18" charset="-120"/>
              </a:rPr>
              <a:t>事實的隱瞞，才涉及裁罰處分</a:t>
            </a:r>
            <a:endParaRPr lang="en-US" altLang="zh-CN" dirty="0">
              <a:latin typeface="PMingLiU" panose="02020500000000000000" pitchFamily="18" charset="-120"/>
              <a:ea typeface="PMingLiU" panose="02020500000000000000" pitchFamily="18" charset="-120"/>
            </a:endParaRPr>
          </a:p>
          <a:p>
            <a:r>
              <a:rPr lang="zh-TW" altLang="en-US" dirty="0">
                <a:latin typeface="PMingLiU" panose="02020500000000000000" pitchFamily="18" charset="-120"/>
                <a:ea typeface="PMingLiU" panose="02020500000000000000" pitchFamily="18" charset="-120"/>
              </a:rPr>
              <a:t>在最高法院、高等法院的見解下，稅捐稽徵法</a:t>
            </a:r>
            <a:r>
              <a:rPr lang="en-US" altLang="zh-TW" dirty="0">
                <a:latin typeface="PMingLiU" panose="02020500000000000000" pitchFamily="18" charset="-120"/>
                <a:ea typeface="PMingLiU" panose="02020500000000000000" pitchFamily="18" charset="-120"/>
              </a:rPr>
              <a:t>41</a:t>
            </a:r>
            <a:r>
              <a:rPr lang="zh-TW" altLang="en-US" dirty="0">
                <a:latin typeface="PMingLiU" panose="02020500000000000000" pitchFamily="18" charset="-120"/>
                <a:ea typeface="PMingLiU" panose="02020500000000000000" pitchFamily="18" charset="-120"/>
              </a:rPr>
              <a:t>條之逃漏稅捐難以定位</a:t>
            </a:r>
            <a:endParaRPr lang="zh-TW" altLang="zh-TW" dirty="0">
              <a:latin typeface="PMingLiU" panose="02020500000000000000" pitchFamily="18" charset="-120"/>
              <a:ea typeface="PMingLiU" panose="02020500000000000000" pitchFamily="18" charset="-120"/>
            </a:endParaRPr>
          </a:p>
          <a:p>
            <a:endParaRPr lang="zh-TW" altLang="en-US" dirty="0"/>
          </a:p>
        </p:txBody>
      </p:sp>
    </p:spTree>
    <p:extLst>
      <p:ext uri="{BB962C8B-B14F-4D97-AF65-F5344CB8AC3E}">
        <p14:creationId xmlns:p14="http://schemas.microsoft.com/office/powerpoint/2010/main" val="54123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265D3950-31DD-B93D-63D7-840BEFD84EF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CA58AC7-3B6F-4D21-B21C-58F4D81CAA45}"/>
              </a:ext>
            </a:extLst>
          </p:cNvPr>
          <p:cNvSpPr>
            <a:spLocks noGrp="1"/>
          </p:cNvSpPr>
          <p:nvPr>
            <p:ph type="title"/>
          </p:nvPr>
        </p:nvSpPr>
        <p:spPr>
          <a:xfrm>
            <a:off x="2775047" y="2501897"/>
            <a:ext cx="6815669" cy="1515533"/>
          </a:xfrm>
        </p:spPr>
        <p:txBody>
          <a:bodyPr vert="horz" lIns="91440" tIns="45720" rIns="91440" bIns="45720" rtlCol="0" anchor="b">
            <a:normAutofit fontScale="90000"/>
          </a:bodyPr>
          <a:lstStyle/>
          <a:p>
            <a:r>
              <a:rPr lang="en-US" altLang="zh-TW" sz="3600" b="1" dirty="0">
                <a:latin typeface="PMingLiU" panose="02020500000000000000" pitchFamily="18" charset="-120"/>
                <a:ea typeface="PMingLiU" panose="02020500000000000000" pitchFamily="18" charset="-120"/>
              </a:rPr>
              <a:t>4.</a:t>
            </a:r>
            <a:r>
              <a:rPr lang="zh-TW" altLang="zh-TW" sz="3600" b="1" dirty="0">
                <a:latin typeface="PMingLiU" panose="02020500000000000000" pitchFamily="18" charset="-120"/>
                <a:ea typeface="PMingLiU" panose="02020500000000000000" pitchFamily="18" charset="-120"/>
              </a:rPr>
              <a:t>從人壽保險上看實質課稅原則與稅捐法定主義間的關係以及解釋適用</a:t>
            </a:r>
            <a:br>
              <a:rPr lang="zh-TW" altLang="en-US" sz="5400" dirty="0"/>
            </a:br>
            <a:endParaRPr lang="zh-TW" altLang="en-US" sz="5400" dirty="0"/>
          </a:p>
        </p:txBody>
      </p:sp>
      <p:sp>
        <p:nvSpPr>
          <p:cNvPr id="4" name="文字方塊 3">
            <a:extLst>
              <a:ext uri="{FF2B5EF4-FFF2-40B4-BE49-F238E27FC236}">
                <a16:creationId xmlns:a16="http://schemas.microsoft.com/office/drawing/2014/main" id="{6FF43D15-F193-24D0-04FD-02668A1A6398}"/>
              </a:ext>
            </a:extLst>
          </p:cNvPr>
          <p:cNvSpPr txBox="1"/>
          <p:nvPr/>
        </p:nvSpPr>
        <p:spPr>
          <a:xfrm>
            <a:off x="2692398" y="3657597"/>
            <a:ext cx="6815669" cy="1320802"/>
          </a:xfrm>
          <a:prstGeom prst="rect">
            <a:avLst/>
          </a:prstGeom>
        </p:spPr>
        <p:txBody>
          <a:bodyPr vert="horz" lIns="91440" tIns="45720" rIns="91440" bIns="45720" rtlCol="0" anchor="t">
            <a:normAutofit/>
          </a:bodyPr>
          <a:lstStyle/>
          <a:p>
            <a:pPr algn="ctr">
              <a:spcBef>
                <a:spcPct val="20000"/>
              </a:spcBef>
              <a:spcAft>
                <a:spcPts val="600"/>
              </a:spcAft>
              <a:buClr>
                <a:schemeClr val="accent1"/>
              </a:buClr>
              <a:buSzPct val="115000"/>
            </a:pPr>
            <a:endParaRPr lang="zh-TW" altLang="en-US" sz="2100" dirty="0"/>
          </a:p>
        </p:txBody>
      </p:sp>
    </p:spTree>
    <p:extLst>
      <p:ext uri="{BB962C8B-B14F-4D97-AF65-F5344CB8AC3E}">
        <p14:creationId xmlns:p14="http://schemas.microsoft.com/office/powerpoint/2010/main" val="407860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0CE7F9-F2D6-3DD0-14C3-D8580DDE3EBF}"/>
              </a:ext>
            </a:extLst>
          </p:cNvPr>
          <p:cNvSpPr>
            <a:spLocks noGrp="1"/>
          </p:cNvSpPr>
          <p:nvPr>
            <p:ph type="title"/>
          </p:nvPr>
        </p:nvSpPr>
        <p:spPr/>
        <p:txBody>
          <a:bodyPr>
            <a:normAutofit fontScale="90000"/>
          </a:bodyPr>
          <a:lstStyle/>
          <a:p>
            <a:r>
              <a:rPr lang="zh-TW" altLang="zh-TW" dirty="0">
                <a:latin typeface="PMingLiU" panose="02020500000000000000" pitchFamily="18" charset="-120"/>
                <a:ea typeface="PMingLiU" panose="02020500000000000000" pitchFamily="18" charset="-120"/>
              </a:rPr>
              <a:t>稅捐法律之制定上，立法者有廣泛的形成空間</a:t>
            </a:r>
            <a:endParaRPr lang="zh-TW" altLang="en-US" dirty="0">
              <a:latin typeface="PMingLiU" panose="02020500000000000000" pitchFamily="18" charset="-120"/>
              <a:ea typeface="PMingLiU" panose="02020500000000000000" pitchFamily="18" charset="-120"/>
            </a:endParaRPr>
          </a:p>
        </p:txBody>
      </p:sp>
      <p:sp>
        <p:nvSpPr>
          <p:cNvPr id="3" name="內容版面配置區 2">
            <a:extLst>
              <a:ext uri="{FF2B5EF4-FFF2-40B4-BE49-F238E27FC236}">
                <a16:creationId xmlns:a16="http://schemas.microsoft.com/office/drawing/2014/main" id="{30EC677F-4128-3609-04D3-C27FCEF17848}"/>
              </a:ext>
            </a:extLst>
          </p:cNvPr>
          <p:cNvSpPr>
            <a:spLocks noGrp="1"/>
          </p:cNvSpPr>
          <p:nvPr>
            <p:ph idx="1"/>
          </p:nvPr>
        </p:nvSpPr>
        <p:spPr/>
        <p:txBody>
          <a:bodyPr/>
          <a:lstStyle/>
          <a:p>
            <a:r>
              <a:rPr lang="en-US" altLang="zh-TW" dirty="0">
                <a:latin typeface="PMingLiU" panose="02020500000000000000" pitchFamily="18" charset="-120"/>
                <a:ea typeface="PMingLiU" panose="02020500000000000000" pitchFamily="18" charset="-120"/>
              </a:rPr>
              <a:t>113</a:t>
            </a:r>
            <a:r>
              <a:rPr lang="zh-TW" altLang="zh-TW" dirty="0">
                <a:latin typeface="PMingLiU" panose="02020500000000000000" pitchFamily="18" charset="-120"/>
                <a:ea typeface="PMingLiU" panose="02020500000000000000" pitchFamily="18" charset="-120"/>
              </a:rPr>
              <a:t>年憲判字第</a:t>
            </a:r>
            <a:r>
              <a:rPr lang="en-US" altLang="zh-TW" dirty="0">
                <a:latin typeface="PMingLiU" panose="02020500000000000000" pitchFamily="18" charset="-120"/>
                <a:ea typeface="PMingLiU" panose="02020500000000000000" pitchFamily="18" charset="-120"/>
              </a:rPr>
              <a:t>11</a:t>
            </a:r>
            <a:r>
              <a:rPr lang="zh-TW" altLang="zh-TW" dirty="0">
                <a:latin typeface="PMingLiU" panose="02020500000000000000" pitchFamily="18" charset="-120"/>
                <a:ea typeface="PMingLiU" panose="02020500000000000000" pitchFamily="18" charset="-120"/>
              </a:rPr>
              <a:t>號【擬制遺產課稅案】</a:t>
            </a:r>
            <a:r>
              <a:rPr lang="en-US" altLang="zh-TW" dirty="0">
                <a:latin typeface="PMingLiU" panose="02020500000000000000" pitchFamily="18" charset="-120"/>
                <a:ea typeface="PMingLiU" panose="02020500000000000000" pitchFamily="18" charset="-120"/>
              </a:rPr>
              <a:t>:</a:t>
            </a:r>
            <a:r>
              <a:rPr lang="zh-CN" altLang="zh-TW" dirty="0">
                <a:latin typeface="PMingLiU" panose="02020500000000000000" pitchFamily="18" charset="-120"/>
                <a:ea typeface="PMingLiU" panose="02020500000000000000" pitchFamily="18" charset="-120"/>
              </a:rPr>
              <a:t>立法機關有廣泛形成空間，如為達成特定社會目的，課予不同稅捐負擔，應係為追求正當公益目的，且所採分類標準與所形成之稅負差異份量應與該正當公益目的之達成間，有合理關聯</a:t>
            </a:r>
            <a:r>
              <a:rPr lang="zh-TW" altLang="en-US" dirty="0">
                <a:latin typeface="PMingLiU" panose="02020500000000000000" pitchFamily="18" charset="-120"/>
                <a:ea typeface="PMingLiU" panose="02020500000000000000" pitchFamily="18" charset="-120"/>
              </a:rPr>
              <a:t>，係採取合理審查標準</a:t>
            </a:r>
            <a:r>
              <a:rPr lang="en-US" altLang="zh-TW" dirty="0">
                <a:latin typeface="PMingLiU" panose="02020500000000000000" pitchFamily="18" charset="-120"/>
                <a:ea typeface="PMingLiU" panose="02020500000000000000" pitchFamily="18" charset="-120"/>
              </a:rPr>
              <a:t>(</a:t>
            </a:r>
            <a:r>
              <a:rPr lang="zh-TW" altLang="en-US" dirty="0">
                <a:latin typeface="PMingLiU" panose="02020500000000000000" pitchFamily="18" charset="-120"/>
                <a:ea typeface="PMingLiU" panose="02020500000000000000" pitchFamily="18" charset="-120"/>
              </a:rPr>
              <a:t>輕度審查標準</a:t>
            </a:r>
            <a:r>
              <a:rPr lang="en-US" altLang="zh-TW" dirty="0">
                <a:latin typeface="PMingLiU" panose="02020500000000000000" pitchFamily="18" charset="-120"/>
                <a:ea typeface="PMingLiU" panose="02020500000000000000" pitchFamily="18" charset="-120"/>
              </a:rPr>
              <a:t>)</a:t>
            </a:r>
          </a:p>
          <a:p>
            <a:r>
              <a:rPr lang="zh-CN" altLang="zh-TW" dirty="0">
                <a:latin typeface="PMingLiU" panose="02020500000000000000" pitchFamily="18" charset="-120"/>
                <a:ea typeface="PMingLiU" panose="02020500000000000000" pitchFamily="18" charset="-120"/>
              </a:rPr>
              <a:t>立法者基於特定社會目的，採取合憲之稅捐優惠規範時</a:t>
            </a:r>
            <a:r>
              <a:rPr lang="zh-TW" altLang="en-US" dirty="0">
                <a:latin typeface="PMingLiU" panose="02020500000000000000" pitchFamily="18" charset="-120"/>
                <a:ea typeface="PMingLiU" panose="02020500000000000000" pitchFamily="18" charset="-120"/>
              </a:rPr>
              <a:t>，不應以實質課稅原則介入之</a:t>
            </a:r>
            <a:endParaRPr lang="zh-TW" altLang="zh-TW" dirty="0">
              <a:latin typeface="PMingLiU" panose="02020500000000000000" pitchFamily="18" charset="-120"/>
              <a:ea typeface="PMingLiU" panose="02020500000000000000" pitchFamily="18" charset="-120"/>
            </a:endParaRPr>
          </a:p>
          <a:p>
            <a:endParaRPr lang="zh-TW" altLang="en-US" dirty="0"/>
          </a:p>
        </p:txBody>
      </p:sp>
    </p:spTree>
    <p:extLst>
      <p:ext uri="{BB962C8B-B14F-4D97-AF65-F5344CB8AC3E}">
        <p14:creationId xmlns:p14="http://schemas.microsoft.com/office/powerpoint/2010/main" val="1679033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7E6007-AD4E-F84E-756D-09FB547D34DB}"/>
              </a:ext>
            </a:extLst>
          </p:cNvPr>
          <p:cNvSpPr>
            <a:spLocks noGrp="1"/>
          </p:cNvSpPr>
          <p:nvPr>
            <p:ph type="title"/>
          </p:nvPr>
        </p:nvSpPr>
        <p:spPr/>
        <p:txBody>
          <a:bodyPr>
            <a:normAutofit/>
          </a:bodyPr>
          <a:lstStyle/>
          <a:p>
            <a:r>
              <a:rPr lang="zh-TW" altLang="zh-TW" sz="3200" dirty="0"/>
              <a:t>遺贈稅法之立法目的除了財政目的外，更包括平均社會財富與吸引境外資金回流、振興經濟之目的</a:t>
            </a:r>
            <a:endParaRPr lang="zh-TW" altLang="en-US" sz="3200" dirty="0"/>
          </a:p>
        </p:txBody>
      </p:sp>
      <p:sp>
        <p:nvSpPr>
          <p:cNvPr id="3" name="內容版面配置區 2">
            <a:extLst>
              <a:ext uri="{FF2B5EF4-FFF2-40B4-BE49-F238E27FC236}">
                <a16:creationId xmlns:a16="http://schemas.microsoft.com/office/drawing/2014/main" id="{242E0436-76B0-93C4-1046-85633A9F44A4}"/>
              </a:ext>
            </a:extLst>
          </p:cNvPr>
          <p:cNvSpPr>
            <a:spLocks noGrp="1"/>
          </p:cNvSpPr>
          <p:nvPr>
            <p:ph idx="1"/>
          </p:nvPr>
        </p:nvSpPr>
        <p:spPr/>
        <p:txBody>
          <a:bodyPr/>
          <a:lstStyle/>
          <a:p>
            <a:r>
              <a:rPr lang="zh-TW" altLang="en-US" sz="2000" dirty="0">
                <a:latin typeface="PMingLiU" panose="02020500000000000000" pitchFamily="18" charset="-120"/>
                <a:ea typeface="PMingLiU" panose="02020500000000000000" pitchFamily="18" charset="-120"/>
              </a:rPr>
              <a:t>現行遺贈稅法</a:t>
            </a:r>
            <a:r>
              <a:rPr lang="en-US" altLang="zh-TW" sz="2000" dirty="0">
                <a:latin typeface="PMingLiU" panose="02020500000000000000" pitchFamily="18" charset="-120"/>
                <a:ea typeface="PMingLiU" panose="02020500000000000000" pitchFamily="18" charset="-120"/>
              </a:rPr>
              <a:t>1973</a:t>
            </a:r>
            <a:r>
              <a:rPr lang="zh-TW" altLang="en-US" sz="2000" dirty="0">
                <a:latin typeface="PMingLiU" panose="02020500000000000000" pitchFamily="18" charset="-120"/>
                <a:ea typeface="PMingLiU" panose="02020500000000000000" pitchFamily="18" charset="-120"/>
              </a:rPr>
              <a:t>年制定時的</a:t>
            </a:r>
            <a:r>
              <a:rPr lang="zh-CN" altLang="zh-TW" sz="2000" dirty="0">
                <a:latin typeface="PMingLiU" panose="02020500000000000000" pitchFamily="18" charset="-120"/>
                <a:ea typeface="PMingLiU" panose="02020500000000000000" pitchFamily="18" charset="-120"/>
              </a:rPr>
              <a:t>立法意旨即表明</a:t>
            </a:r>
            <a:r>
              <a:rPr lang="en-US" altLang="zh-CN" sz="2000" dirty="0">
                <a:latin typeface="PMingLiU" panose="02020500000000000000" pitchFamily="18" charset="-120"/>
                <a:ea typeface="PMingLiU" panose="02020500000000000000" pitchFamily="18" charset="-120"/>
              </a:rPr>
              <a:t>:</a:t>
            </a:r>
            <a:r>
              <a:rPr lang="zh-CN" altLang="zh-TW" sz="2000" dirty="0">
                <a:latin typeface="PMingLiU" panose="02020500000000000000" pitchFamily="18" charset="-120"/>
                <a:ea typeface="PMingLiU" panose="02020500000000000000" pitchFamily="18" charset="-120"/>
              </a:rPr>
              <a:t>查遺產稅之課徵，社會意義重於財產意義</a:t>
            </a:r>
            <a:endParaRPr lang="en-US" altLang="zh-CN" sz="2000" dirty="0">
              <a:latin typeface="PMingLiU" panose="02020500000000000000" pitchFamily="18" charset="-120"/>
              <a:ea typeface="PMingLiU" panose="02020500000000000000" pitchFamily="18" charset="-120"/>
            </a:endParaRPr>
          </a:p>
          <a:p>
            <a:r>
              <a:rPr lang="en-US" altLang="zh-TW" sz="2000" dirty="0">
                <a:latin typeface="PMingLiU" panose="02020500000000000000" pitchFamily="18" charset="-120"/>
                <a:ea typeface="PMingLiU" panose="02020500000000000000" pitchFamily="18" charset="-120"/>
              </a:rPr>
              <a:t>2009</a:t>
            </a:r>
            <a:r>
              <a:rPr lang="zh-CN" altLang="zh-TW" sz="2000" dirty="0">
                <a:latin typeface="PMingLiU" panose="02020500000000000000" pitchFamily="18" charset="-120"/>
                <a:ea typeface="PMingLiU" panose="02020500000000000000" pitchFamily="18" charset="-120"/>
              </a:rPr>
              <a:t>年修改遺贈稅法</a:t>
            </a:r>
            <a:r>
              <a:rPr lang="en-US" altLang="zh-TW" sz="2000" dirty="0">
                <a:latin typeface="PMingLiU" panose="02020500000000000000" pitchFamily="18" charset="-120"/>
                <a:ea typeface="PMingLiU" panose="02020500000000000000" pitchFamily="18" charset="-120"/>
              </a:rPr>
              <a:t>13</a:t>
            </a:r>
            <a:r>
              <a:rPr lang="zh-CN" altLang="zh-TW" sz="2000" dirty="0">
                <a:latin typeface="PMingLiU" panose="02020500000000000000" pitchFamily="18" charset="-120"/>
                <a:ea typeface="PMingLiU" panose="02020500000000000000" pitchFamily="18" charset="-120"/>
              </a:rPr>
              <a:t>條稅率時的立法理由</a:t>
            </a:r>
            <a:r>
              <a:rPr lang="zh-TW" altLang="en-US" sz="2000" dirty="0">
                <a:latin typeface="PMingLiU" panose="02020500000000000000" pitchFamily="18" charset="-120"/>
                <a:ea typeface="PMingLiU" panose="02020500000000000000" pitchFamily="18" charset="-120"/>
              </a:rPr>
              <a:t>又表明</a:t>
            </a:r>
            <a:r>
              <a:rPr lang="en-US" altLang="zh-TW" sz="2000" dirty="0">
                <a:latin typeface="PMingLiU" panose="02020500000000000000" pitchFamily="18" charset="-120"/>
                <a:ea typeface="PMingLiU" panose="02020500000000000000" pitchFamily="18" charset="-120"/>
              </a:rPr>
              <a:t>:</a:t>
            </a:r>
            <a:r>
              <a:rPr lang="zh-CN" altLang="zh-TW" sz="2000" dirty="0">
                <a:latin typeface="PMingLiU" panose="02020500000000000000" pitchFamily="18" charset="-120"/>
                <a:ea typeface="PMingLiU" panose="02020500000000000000" pitchFamily="18" charset="-120"/>
              </a:rPr>
              <a:t>租稅之課徵，應同時兼顧經濟發展、社會公益、國際競爭力及永續環境</a:t>
            </a:r>
            <a:r>
              <a:rPr lang="zh-TW" altLang="en-US" sz="2000" dirty="0">
                <a:latin typeface="PMingLiU" panose="02020500000000000000" pitchFamily="18" charset="-120"/>
                <a:ea typeface="PMingLiU" panose="02020500000000000000" pitchFamily="18" charset="-120"/>
              </a:rPr>
              <a:t>，</a:t>
            </a:r>
            <a:r>
              <a:rPr lang="zh-CN" altLang="zh-TW" sz="2000" dirty="0">
                <a:latin typeface="PMingLiU" panose="02020500000000000000" pitchFamily="18" charset="-120"/>
                <a:ea typeface="PMingLiU" panose="02020500000000000000" pitchFamily="18" charset="-120"/>
              </a:rPr>
              <a:t>將最高邊際稅率調降為</a:t>
            </a:r>
            <a:r>
              <a:rPr lang="en-US" altLang="zh-TW" sz="2000" dirty="0">
                <a:latin typeface="PMingLiU" panose="02020500000000000000" pitchFamily="18" charset="-120"/>
                <a:ea typeface="PMingLiU" panose="02020500000000000000" pitchFamily="18" charset="-120"/>
              </a:rPr>
              <a:t>10%</a:t>
            </a:r>
            <a:r>
              <a:rPr lang="zh-CN" altLang="zh-TW" sz="2000" dirty="0">
                <a:latin typeface="PMingLiU" panose="02020500000000000000" pitchFamily="18" charset="-120"/>
                <a:ea typeface="PMingLiU" panose="02020500000000000000" pitchFamily="18" charset="-120"/>
              </a:rPr>
              <a:t>，並簡化為單一稅率，期能降低租稅規避誘因，提升納稅依從度及資本運用效率同時配合免稅額之提高，使中小額遺產繼承事件，免除或減輕遺產稅負</a:t>
            </a:r>
            <a:endParaRPr lang="en-US" altLang="zh-CN" sz="2000" dirty="0">
              <a:latin typeface="PMingLiU" panose="02020500000000000000" pitchFamily="18" charset="-120"/>
              <a:ea typeface="PMingLiU" panose="02020500000000000000" pitchFamily="18" charset="-120"/>
            </a:endParaRPr>
          </a:p>
          <a:p>
            <a:endParaRPr lang="zh-TW" altLang="zh-TW" dirty="0"/>
          </a:p>
          <a:p>
            <a:endParaRPr lang="zh-TW" altLang="en-US" dirty="0"/>
          </a:p>
        </p:txBody>
      </p:sp>
      <p:sp>
        <p:nvSpPr>
          <p:cNvPr id="4" name="箭號: 向右 3">
            <a:extLst>
              <a:ext uri="{FF2B5EF4-FFF2-40B4-BE49-F238E27FC236}">
                <a16:creationId xmlns:a16="http://schemas.microsoft.com/office/drawing/2014/main" id="{F00425C8-5572-0466-7860-5B5B0B05022C}"/>
              </a:ext>
            </a:extLst>
          </p:cNvPr>
          <p:cNvSpPr/>
          <p:nvPr/>
        </p:nvSpPr>
        <p:spPr>
          <a:xfrm>
            <a:off x="1384300" y="4963999"/>
            <a:ext cx="978408" cy="484632"/>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TW" altLang="en-US" dirty="0"/>
          </a:p>
        </p:txBody>
      </p:sp>
      <p:sp>
        <p:nvSpPr>
          <p:cNvPr id="5" name="文字方塊 4">
            <a:extLst>
              <a:ext uri="{FF2B5EF4-FFF2-40B4-BE49-F238E27FC236}">
                <a16:creationId xmlns:a16="http://schemas.microsoft.com/office/drawing/2014/main" id="{DE45E5D5-8330-AAFD-0225-9ED1C862BFB2}"/>
              </a:ext>
            </a:extLst>
          </p:cNvPr>
          <p:cNvSpPr txBox="1"/>
          <p:nvPr/>
        </p:nvSpPr>
        <p:spPr>
          <a:xfrm>
            <a:off x="2451607" y="4883150"/>
            <a:ext cx="6623050" cy="646331"/>
          </a:xfrm>
          <a:prstGeom prst="rect">
            <a:avLst/>
          </a:prstGeom>
          <a:noFill/>
        </p:spPr>
        <p:txBody>
          <a:bodyPr wrap="square" rtlCol="0">
            <a:spAutoFit/>
          </a:bodyPr>
          <a:lstStyle/>
          <a:p>
            <a:r>
              <a:rPr lang="zh-TW" altLang="en-US" dirty="0"/>
              <a:t>可知遺贈稅法之目的亦包含吸引資金回流、振興經濟、累積資本之工具，而非單純支應財政收入</a:t>
            </a:r>
          </a:p>
        </p:txBody>
      </p:sp>
    </p:spTree>
    <p:extLst>
      <p:ext uri="{BB962C8B-B14F-4D97-AF65-F5344CB8AC3E}">
        <p14:creationId xmlns:p14="http://schemas.microsoft.com/office/powerpoint/2010/main" val="392333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EC55C3-256F-0648-1FEB-85B9D388166C}"/>
              </a:ext>
            </a:extLst>
          </p:cNvPr>
          <p:cNvSpPr>
            <a:spLocks noGrp="1"/>
          </p:cNvSpPr>
          <p:nvPr>
            <p:ph type="title"/>
          </p:nvPr>
        </p:nvSpPr>
        <p:spPr/>
        <p:txBody>
          <a:bodyPr>
            <a:normAutofit fontScale="90000"/>
          </a:bodyPr>
          <a:lstStyle/>
          <a:p>
            <a:r>
              <a:rPr lang="zh-CN" altLang="zh-TW" dirty="0"/>
              <a:t>適用實質課稅原則調整稅負時，即應通盤考量上述目的</a:t>
            </a:r>
            <a:endParaRPr lang="zh-TW" altLang="en-US" dirty="0"/>
          </a:p>
        </p:txBody>
      </p:sp>
      <p:sp>
        <p:nvSpPr>
          <p:cNvPr id="3" name="內容版面配置區 2">
            <a:extLst>
              <a:ext uri="{FF2B5EF4-FFF2-40B4-BE49-F238E27FC236}">
                <a16:creationId xmlns:a16="http://schemas.microsoft.com/office/drawing/2014/main" id="{A22CFD16-F24D-D030-49E0-7204644E28D4}"/>
              </a:ext>
            </a:extLst>
          </p:cNvPr>
          <p:cNvSpPr>
            <a:spLocks noGrp="1"/>
          </p:cNvSpPr>
          <p:nvPr>
            <p:ph idx="1"/>
          </p:nvPr>
        </p:nvSpPr>
        <p:spPr/>
        <p:txBody>
          <a:bodyPr/>
          <a:lstStyle/>
          <a:p>
            <a:r>
              <a:rPr lang="zh-CN" altLang="zh-TW" dirty="0">
                <a:latin typeface="PMingLiU" panose="02020500000000000000" pitchFamily="18" charset="-120"/>
                <a:ea typeface="PMingLiU" panose="02020500000000000000" pitchFamily="18" charset="-120"/>
              </a:rPr>
              <a:t>德國稅法學者</a:t>
            </a:r>
            <a:r>
              <a:rPr lang="en-US" altLang="zh-TW" dirty="0">
                <a:latin typeface="PMingLiU" panose="02020500000000000000" pitchFamily="18" charset="-120"/>
                <a:ea typeface="PMingLiU" panose="02020500000000000000" pitchFamily="18" charset="-120"/>
              </a:rPr>
              <a:t>Klaus </a:t>
            </a:r>
            <a:r>
              <a:rPr lang="en-US" altLang="zh-TW" dirty="0" err="1">
                <a:latin typeface="PMingLiU" panose="02020500000000000000" pitchFamily="18" charset="-120"/>
                <a:ea typeface="PMingLiU" panose="02020500000000000000" pitchFamily="18" charset="-120"/>
              </a:rPr>
              <a:t>Tipke</a:t>
            </a:r>
            <a:r>
              <a:rPr lang="zh-CN" altLang="zh-TW" dirty="0">
                <a:latin typeface="PMingLiU" panose="02020500000000000000" pitchFamily="18" charset="-120"/>
                <a:ea typeface="PMingLiU" panose="02020500000000000000" pitchFamily="18" charset="-120"/>
              </a:rPr>
              <a:t>即認為</a:t>
            </a:r>
            <a:r>
              <a:rPr lang="en-US" altLang="zh-TW" dirty="0">
                <a:latin typeface="PMingLiU" panose="02020500000000000000" pitchFamily="18" charset="-120"/>
                <a:ea typeface="PMingLiU" panose="02020500000000000000" pitchFamily="18" charset="-120"/>
              </a:rPr>
              <a:t>:</a:t>
            </a:r>
            <a:r>
              <a:rPr lang="zh-CN" altLang="zh-TW" dirty="0">
                <a:latin typeface="PMingLiU" panose="02020500000000000000" pitchFamily="18" charset="-120"/>
                <a:ea typeface="PMingLiU" panose="02020500000000000000" pitchFamily="18" charset="-120"/>
              </a:rPr>
              <a:t>稅法應尊重其他法領域基礎價值，除非有「迫切的正當理由」，且經過法益衡量後，否則不應任意侵入或排除其他法領域所植基的基礎原則</a:t>
            </a:r>
            <a:endParaRPr lang="en-US" altLang="zh-CN" dirty="0">
              <a:latin typeface="PMingLiU" panose="02020500000000000000" pitchFamily="18" charset="-120"/>
              <a:ea typeface="PMingLiU" panose="02020500000000000000" pitchFamily="18" charset="-120"/>
            </a:endParaRPr>
          </a:p>
          <a:p>
            <a:r>
              <a:rPr lang="zh-TW" altLang="en-US" dirty="0">
                <a:latin typeface="PMingLiU" panose="02020500000000000000" pitchFamily="18" charset="-120"/>
                <a:ea typeface="PMingLiU" panose="02020500000000000000" pitchFamily="18" charset="-120"/>
              </a:rPr>
              <a:t>遺贈稅法本身具有社會法性質，且遺贈稅法</a:t>
            </a:r>
            <a:r>
              <a:rPr lang="en-US" altLang="zh-TW" dirty="0">
                <a:latin typeface="PMingLiU" panose="02020500000000000000" pitchFamily="18" charset="-120"/>
                <a:ea typeface="PMingLiU" panose="02020500000000000000" pitchFamily="18" charset="-120"/>
              </a:rPr>
              <a:t>16</a:t>
            </a:r>
            <a:r>
              <a:rPr lang="zh-CN" altLang="zh-TW" dirty="0">
                <a:latin typeface="PMingLiU" panose="02020500000000000000" pitchFamily="18" charset="-120"/>
                <a:ea typeface="PMingLiU" panose="02020500000000000000" pitchFamily="18" charset="-120"/>
              </a:rPr>
              <a:t>條</a:t>
            </a:r>
            <a:r>
              <a:rPr lang="en-US" altLang="zh-TW" dirty="0">
                <a:latin typeface="PMingLiU" panose="02020500000000000000" pitchFamily="18" charset="-120"/>
                <a:ea typeface="PMingLiU" panose="02020500000000000000" pitchFamily="18" charset="-120"/>
              </a:rPr>
              <a:t>9</a:t>
            </a:r>
            <a:r>
              <a:rPr lang="zh-CN" altLang="zh-TW" dirty="0">
                <a:latin typeface="PMingLiU" panose="02020500000000000000" pitchFamily="18" charset="-120"/>
                <a:ea typeface="PMingLiU" panose="02020500000000000000" pitchFamily="18" charset="-120"/>
              </a:rPr>
              <a:t>款</a:t>
            </a:r>
            <a:r>
              <a:rPr lang="zh-TW" altLang="en-US" dirty="0">
                <a:latin typeface="PMingLiU" panose="02020500000000000000" pitchFamily="18" charset="-120"/>
                <a:ea typeface="PMingLiU" panose="02020500000000000000" pitchFamily="18" charset="-120"/>
              </a:rPr>
              <a:t>關聯保險法，同時又具有經濟目的，因此具有綜合法的性質</a:t>
            </a:r>
            <a:endParaRPr lang="en-US" altLang="zh-TW" dirty="0">
              <a:latin typeface="PMingLiU" panose="02020500000000000000" pitchFamily="18" charset="-120"/>
              <a:ea typeface="PMingLiU" panose="02020500000000000000" pitchFamily="18" charset="-120"/>
            </a:endParaRPr>
          </a:p>
          <a:p>
            <a:r>
              <a:rPr lang="zh-TW" altLang="zh-TW" dirty="0">
                <a:latin typeface="PMingLiU" panose="02020500000000000000" pitchFamily="18" charset="-120"/>
                <a:ea typeface="PMingLiU" panose="02020500000000000000" pitchFamily="18" charset="-120"/>
              </a:rPr>
              <a:t>於適用實質課稅原則調整稅負時，即應通盤考量上述目的</a:t>
            </a:r>
          </a:p>
          <a:p>
            <a:endParaRPr lang="zh-TW" altLang="en-US" dirty="0">
              <a:latin typeface="+mj-ea"/>
              <a:ea typeface="+mj-ea"/>
            </a:endParaRPr>
          </a:p>
        </p:txBody>
      </p:sp>
    </p:spTree>
    <p:extLst>
      <p:ext uri="{BB962C8B-B14F-4D97-AF65-F5344CB8AC3E}">
        <p14:creationId xmlns:p14="http://schemas.microsoft.com/office/powerpoint/2010/main" val="2512044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6FF9F0-26B9-0896-5A7C-B48AD5732F48}"/>
              </a:ext>
            </a:extLst>
          </p:cNvPr>
          <p:cNvSpPr>
            <a:spLocks noGrp="1"/>
          </p:cNvSpPr>
          <p:nvPr>
            <p:ph type="title"/>
          </p:nvPr>
        </p:nvSpPr>
        <p:spPr/>
        <p:txBody>
          <a:bodyPr>
            <a:normAutofit fontScale="90000"/>
          </a:bodyPr>
          <a:lstStyle/>
          <a:p>
            <a:r>
              <a:rPr lang="zh-TW" altLang="zh-TW" dirty="0"/>
              <a:t>實質課稅原則之適用應尊重稅捐法定原則</a:t>
            </a:r>
            <a:endParaRPr lang="zh-TW" altLang="en-US" dirty="0"/>
          </a:p>
        </p:txBody>
      </p:sp>
      <p:sp>
        <p:nvSpPr>
          <p:cNvPr id="3" name="內容版面配置區 2">
            <a:extLst>
              <a:ext uri="{FF2B5EF4-FFF2-40B4-BE49-F238E27FC236}">
                <a16:creationId xmlns:a16="http://schemas.microsoft.com/office/drawing/2014/main" id="{07899F92-95A4-639C-AADA-1DFE2BB24A57}"/>
              </a:ext>
            </a:extLst>
          </p:cNvPr>
          <p:cNvSpPr>
            <a:spLocks noGrp="1"/>
          </p:cNvSpPr>
          <p:nvPr>
            <p:ph idx="1"/>
          </p:nvPr>
        </p:nvSpPr>
        <p:spPr/>
        <p:txBody>
          <a:bodyPr/>
          <a:lstStyle/>
          <a:p>
            <a:r>
              <a:rPr lang="zh-CN" altLang="zh-TW" dirty="0">
                <a:latin typeface="PMingLiU" panose="02020500000000000000" pitchFamily="18" charset="-120"/>
                <a:ea typeface="PMingLiU" panose="02020500000000000000" pitchFamily="18" charset="-120"/>
              </a:rPr>
              <a:t>學說上有認為</a:t>
            </a:r>
            <a:r>
              <a:rPr lang="en-US" altLang="zh-CN" dirty="0">
                <a:latin typeface="PMingLiU" panose="02020500000000000000" pitchFamily="18" charset="-120"/>
                <a:ea typeface="PMingLiU" panose="02020500000000000000" pitchFamily="18" charset="-120"/>
              </a:rPr>
              <a:t>:</a:t>
            </a:r>
            <a:r>
              <a:rPr lang="zh-CN" altLang="zh-TW" dirty="0">
                <a:latin typeface="PMingLiU" panose="02020500000000000000" pitchFamily="18" charset="-120"/>
                <a:ea typeface="PMingLiU" panose="02020500000000000000" pitchFamily="18" charset="-120"/>
              </a:rPr>
              <a:t>實質課稅原則，即德國法上的經濟觀察法，係作為稅捐規範的目的解釋方法，觀察之標的為「整體經濟過程」，</a:t>
            </a:r>
            <a:r>
              <a:rPr lang="zh-TW" altLang="en-US" dirty="0">
                <a:latin typeface="PMingLiU" panose="02020500000000000000" pitchFamily="18" charset="-120"/>
                <a:ea typeface="PMingLiU" panose="02020500000000000000" pitchFamily="18" charset="-120"/>
              </a:rPr>
              <a:t>係</a:t>
            </a:r>
            <a:r>
              <a:rPr lang="zh-CN" altLang="zh-TW" dirty="0">
                <a:latin typeface="PMingLiU" panose="02020500000000000000" pitchFamily="18" charset="-120"/>
                <a:ea typeface="PMingLiU" panose="02020500000000000000" pitchFamily="18" charset="-120"/>
              </a:rPr>
              <a:t>適用於「防杜濫用私法形成自由的脫法避稅行為」之問題上</a:t>
            </a:r>
            <a:r>
              <a:rPr lang="zh-TW" altLang="en-US" dirty="0">
                <a:latin typeface="PMingLiU" panose="02020500000000000000" pitchFamily="18" charset="-120"/>
                <a:ea typeface="PMingLiU" panose="02020500000000000000" pitchFamily="18" charset="-120"/>
              </a:rPr>
              <a:t>，</a:t>
            </a:r>
            <a:r>
              <a:rPr lang="zh-CN" altLang="zh-TW" dirty="0">
                <a:latin typeface="PMingLiU" panose="02020500000000000000" pitchFamily="18" charset="-120"/>
                <a:ea typeface="PMingLiU" panose="02020500000000000000" pitchFamily="18" charset="-120"/>
              </a:rPr>
              <a:t>僅在納稅義務人濫用私法上交易之偽裝形式，意圖規避稅負等</a:t>
            </a:r>
            <a:r>
              <a:rPr lang="zh-CN" altLang="zh-TW" dirty="0">
                <a:solidFill>
                  <a:srgbClr val="FF0000"/>
                </a:solidFill>
                <a:latin typeface="PMingLiU" panose="02020500000000000000" pitchFamily="18" charset="-120"/>
                <a:ea typeface="PMingLiU" panose="02020500000000000000" pitchFamily="18" charset="-120"/>
              </a:rPr>
              <a:t>例外</a:t>
            </a:r>
            <a:r>
              <a:rPr lang="zh-CN" altLang="zh-TW" dirty="0">
                <a:latin typeface="PMingLiU" panose="02020500000000000000" pitchFamily="18" charset="-120"/>
                <a:ea typeface="PMingLiU" panose="02020500000000000000" pitchFamily="18" charset="-120"/>
              </a:rPr>
              <a:t>情形時，才會適用，而非一項「原則」</a:t>
            </a:r>
            <a:endParaRPr lang="en-US" altLang="zh-CN" dirty="0">
              <a:latin typeface="PMingLiU" panose="02020500000000000000" pitchFamily="18" charset="-120"/>
              <a:ea typeface="PMingLiU" panose="02020500000000000000" pitchFamily="18" charset="-120"/>
            </a:endParaRPr>
          </a:p>
          <a:p>
            <a:r>
              <a:rPr lang="zh-CN" altLang="zh-TW" dirty="0">
                <a:latin typeface="PMingLiU" panose="02020500000000000000" pitchFamily="18" charset="-120"/>
                <a:ea typeface="PMingLiU" panose="02020500000000000000" pitchFamily="18" charset="-120"/>
              </a:rPr>
              <a:t>故其適用應基於法學方法論上「</a:t>
            </a:r>
            <a:r>
              <a:rPr lang="zh-CN" altLang="zh-TW" dirty="0">
                <a:solidFill>
                  <a:srgbClr val="FF0000"/>
                </a:solidFill>
                <a:latin typeface="PMingLiU" panose="02020500000000000000" pitchFamily="18" charset="-120"/>
                <a:ea typeface="PMingLiU" panose="02020500000000000000" pitchFamily="18" charset="-120"/>
              </a:rPr>
              <a:t>例外規定，從嚴解釋</a:t>
            </a:r>
            <a:r>
              <a:rPr lang="zh-CN" altLang="zh-TW" dirty="0">
                <a:latin typeface="PMingLiU" panose="02020500000000000000" pitchFamily="18" charset="-120"/>
                <a:ea typeface="PMingLiU" panose="02020500000000000000" pitchFamily="18" charset="-120"/>
              </a:rPr>
              <a:t>」的法則</a:t>
            </a:r>
            <a:endParaRPr lang="en-US" altLang="zh-CN" dirty="0">
              <a:latin typeface="PMingLiU" panose="02020500000000000000" pitchFamily="18" charset="-120"/>
              <a:ea typeface="PMingLiU" panose="02020500000000000000" pitchFamily="18" charset="-120"/>
            </a:endParaRPr>
          </a:p>
          <a:p>
            <a:endParaRPr lang="zh-TW" altLang="en-US" dirty="0">
              <a:latin typeface="PMingLiU" panose="02020500000000000000" pitchFamily="18" charset="-120"/>
              <a:ea typeface="PMingLiU" panose="02020500000000000000" pitchFamily="18" charset="-120"/>
            </a:endParaRPr>
          </a:p>
        </p:txBody>
      </p:sp>
    </p:spTree>
    <p:extLst>
      <p:ext uri="{BB962C8B-B14F-4D97-AF65-F5344CB8AC3E}">
        <p14:creationId xmlns:p14="http://schemas.microsoft.com/office/powerpoint/2010/main" val="3822905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E2A89A-48B8-531E-54E1-1EA3BFDE80AC}"/>
              </a:ext>
            </a:extLst>
          </p:cNvPr>
          <p:cNvSpPr>
            <a:spLocks noGrp="1"/>
          </p:cNvSpPr>
          <p:nvPr>
            <p:ph type="title"/>
          </p:nvPr>
        </p:nvSpPr>
        <p:spPr/>
        <p:txBody>
          <a:bodyPr>
            <a:normAutofit fontScale="90000"/>
          </a:bodyPr>
          <a:lstStyle/>
          <a:p>
            <a:r>
              <a:rPr lang="zh-TW" altLang="zh-TW" dirty="0"/>
              <a:t>實質課稅原則之適用應尊重稅捐法定原則</a:t>
            </a:r>
            <a:endParaRPr lang="zh-TW" altLang="en-US" dirty="0"/>
          </a:p>
        </p:txBody>
      </p:sp>
      <p:sp>
        <p:nvSpPr>
          <p:cNvPr id="3" name="內容版面配置區 2">
            <a:extLst>
              <a:ext uri="{FF2B5EF4-FFF2-40B4-BE49-F238E27FC236}">
                <a16:creationId xmlns:a16="http://schemas.microsoft.com/office/drawing/2014/main" id="{4023244A-BAB6-63A7-E45E-46604F0BECA1}"/>
              </a:ext>
            </a:extLst>
          </p:cNvPr>
          <p:cNvSpPr>
            <a:spLocks noGrp="1"/>
          </p:cNvSpPr>
          <p:nvPr>
            <p:ph idx="1"/>
          </p:nvPr>
        </p:nvSpPr>
        <p:spPr/>
        <p:txBody>
          <a:bodyPr/>
          <a:lstStyle/>
          <a:p>
            <a:r>
              <a:rPr lang="zh-CN" altLang="zh-TW" dirty="0"/>
              <a:t>在稅法解釋上，基本上不應超過文義之範圍而為解釋，縱使超過文義範圍而進行法律漏洞的填補，亦屬極端例外，如果納稅義務人之選擇確有商業上正當理由，即應尊重納稅義務人的經濟活動自由，而不得動輒以實質課稅原則之名，行濫行課稅之實</a:t>
            </a:r>
            <a:endParaRPr lang="en-US" altLang="zh-CN" dirty="0"/>
          </a:p>
          <a:p>
            <a:r>
              <a:rPr lang="zh-CN" altLang="zh-TW" dirty="0"/>
              <a:t>本文認為</a:t>
            </a:r>
            <a:r>
              <a:rPr lang="en-US" altLang="zh-TW" dirty="0"/>
              <a:t>:</a:t>
            </a:r>
            <a:r>
              <a:rPr lang="zh-CN" altLang="zh-TW" dirty="0"/>
              <a:t>人壽保險上是否應以實質課稅原則調整納稅義務人應負擔之稅負時，即應考慮</a:t>
            </a:r>
            <a:r>
              <a:rPr lang="zh-CN" altLang="zh-TW" dirty="0">
                <a:solidFill>
                  <a:srgbClr val="FF0000"/>
                </a:solidFill>
              </a:rPr>
              <a:t>遺贈稅法所具有之特別目的與性格</a:t>
            </a:r>
            <a:r>
              <a:rPr lang="zh-CN" altLang="zh-TW" dirty="0"/>
              <a:t>，而於評價上處於邊緣案例時，即應適用學說上「例外規定，從嚴解釋」之原則</a:t>
            </a:r>
            <a:endParaRPr lang="zh-TW" altLang="en-US" dirty="0"/>
          </a:p>
        </p:txBody>
      </p:sp>
    </p:spTree>
    <p:extLst>
      <p:ext uri="{BB962C8B-B14F-4D97-AF65-F5344CB8AC3E}">
        <p14:creationId xmlns:p14="http://schemas.microsoft.com/office/powerpoint/2010/main" val="3826756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0C27CE-ED30-D276-45DF-0293F17A1E12}"/>
              </a:ext>
            </a:extLst>
          </p:cNvPr>
          <p:cNvSpPr>
            <a:spLocks noGrp="1"/>
          </p:cNvSpPr>
          <p:nvPr>
            <p:ph type="title"/>
          </p:nvPr>
        </p:nvSpPr>
        <p:spPr/>
        <p:txBody>
          <a:bodyPr>
            <a:noAutofit/>
          </a:bodyPr>
          <a:lstStyle/>
          <a:p>
            <a:r>
              <a:rPr lang="zh-TW" altLang="zh-TW" sz="3200" dirty="0"/>
              <a:t>保險法上個案調整模式，並非防杜保險規避稅捐之妥適規範模式</a:t>
            </a:r>
            <a:br>
              <a:rPr lang="zh-TW" altLang="zh-TW" sz="3200" dirty="0"/>
            </a:br>
            <a:endParaRPr lang="zh-TW" altLang="en-US" sz="3200" dirty="0"/>
          </a:p>
        </p:txBody>
      </p:sp>
      <p:sp>
        <p:nvSpPr>
          <p:cNvPr id="3" name="內容版面配置區 2">
            <a:extLst>
              <a:ext uri="{FF2B5EF4-FFF2-40B4-BE49-F238E27FC236}">
                <a16:creationId xmlns:a16="http://schemas.microsoft.com/office/drawing/2014/main" id="{3CF9D8DA-B598-1972-7D52-5435DFA3365B}"/>
              </a:ext>
            </a:extLst>
          </p:cNvPr>
          <p:cNvSpPr>
            <a:spLocks noGrp="1"/>
          </p:cNvSpPr>
          <p:nvPr>
            <p:ph idx="1"/>
          </p:nvPr>
        </p:nvSpPr>
        <p:spPr/>
        <p:txBody>
          <a:bodyPr>
            <a:normAutofit lnSpcReduction="10000"/>
          </a:bodyPr>
          <a:lstStyle/>
          <a:p>
            <a:r>
              <a:rPr lang="zh-CN" altLang="zh-TW" dirty="0">
                <a:latin typeface="PMingLiU" panose="02020500000000000000" pitchFamily="18" charset="-120"/>
                <a:ea typeface="PMingLiU" panose="02020500000000000000" pitchFamily="18" charset="-120"/>
              </a:rPr>
              <a:t>判斷投保保單是否為稅捐規避行為的八大類型特徵</a:t>
            </a:r>
            <a:r>
              <a:rPr lang="en-US" altLang="zh-TW" dirty="0">
                <a:latin typeface="PMingLiU" panose="02020500000000000000" pitchFamily="18" charset="-120"/>
                <a:ea typeface="PMingLiU" panose="02020500000000000000" pitchFamily="18" charset="-120"/>
              </a:rPr>
              <a:t>:</a:t>
            </a:r>
            <a:r>
              <a:rPr lang="zh-CN" altLang="zh-TW" dirty="0">
                <a:latin typeface="PMingLiU" panose="02020500000000000000" pitchFamily="18" charset="-120"/>
                <a:ea typeface="PMingLiU" panose="02020500000000000000" pitchFamily="18" charset="-120"/>
              </a:rPr>
              <a:t>躉繳保費、高齡投保、重病投保、密集投保、短期投保、鉅額投保、舉債投保</a:t>
            </a:r>
            <a:r>
              <a:rPr lang="zh-TW" altLang="zh-TW" dirty="0">
                <a:latin typeface="PMingLiU" panose="02020500000000000000" pitchFamily="18" charset="-120"/>
                <a:ea typeface="PMingLiU" panose="02020500000000000000" pitchFamily="18" charset="-120"/>
              </a:rPr>
              <a:t> </a:t>
            </a:r>
            <a:endParaRPr lang="en-US" altLang="zh-TW" dirty="0">
              <a:latin typeface="PMingLiU" panose="02020500000000000000" pitchFamily="18" charset="-120"/>
              <a:ea typeface="PMingLiU" panose="02020500000000000000" pitchFamily="18" charset="-120"/>
            </a:endParaRPr>
          </a:p>
          <a:p>
            <a:r>
              <a:rPr lang="zh-CN" altLang="zh-TW" dirty="0">
                <a:latin typeface="PMingLiU" panose="02020500000000000000" pitchFamily="18" charset="-120"/>
                <a:ea typeface="PMingLiU" panose="02020500000000000000" pitchFamily="18" charset="-120"/>
              </a:rPr>
              <a:t>判斷標準既不明確，易流於恣意，平添私人財產規劃的不確定性，於法律規範的安定性與明確性上亦有疑義</a:t>
            </a:r>
            <a:r>
              <a:rPr lang="zh-TW" altLang="en-US" dirty="0">
                <a:latin typeface="PMingLiU" panose="02020500000000000000" pitchFamily="18" charset="-120"/>
                <a:ea typeface="PMingLiU" panose="02020500000000000000" pitchFamily="18" charset="-120"/>
              </a:rPr>
              <a:t>，容易</a:t>
            </a:r>
            <a:r>
              <a:rPr lang="zh-TW" altLang="zh-TW" dirty="0">
                <a:latin typeface="PMingLiU" panose="02020500000000000000" pitchFamily="18" charset="-120"/>
                <a:ea typeface="PMingLiU" panose="02020500000000000000" pitchFamily="18" charset="-120"/>
              </a:rPr>
              <a:t>侵害人民依照憲法</a:t>
            </a:r>
            <a:r>
              <a:rPr lang="en-US" altLang="zh-TW" dirty="0">
                <a:latin typeface="PMingLiU" panose="02020500000000000000" pitchFamily="18" charset="-120"/>
                <a:ea typeface="PMingLiU" panose="02020500000000000000" pitchFamily="18" charset="-120"/>
              </a:rPr>
              <a:t>15</a:t>
            </a:r>
            <a:r>
              <a:rPr lang="zh-TW" altLang="zh-TW" dirty="0">
                <a:latin typeface="PMingLiU" panose="02020500000000000000" pitchFamily="18" charset="-120"/>
                <a:ea typeface="PMingLiU" panose="02020500000000000000" pitchFamily="18" charset="-120"/>
              </a:rPr>
              <a:t>條及</a:t>
            </a:r>
            <a:r>
              <a:rPr lang="en-US" altLang="zh-TW" dirty="0">
                <a:latin typeface="PMingLiU" panose="02020500000000000000" pitchFamily="18" charset="-120"/>
                <a:ea typeface="PMingLiU" panose="02020500000000000000" pitchFamily="18" charset="-120"/>
              </a:rPr>
              <a:t>22</a:t>
            </a:r>
            <a:r>
              <a:rPr lang="zh-TW" altLang="zh-TW" dirty="0">
                <a:latin typeface="PMingLiU" panose="02020500000000000000" pitchFamily="18" charset="-120"/>
                <a:ea typeface="PMingLiU" panose="02020500000000000000" pitchFamily="18" charset="-120"/>
              </a:rPr>
              <a:t>條保障人民進行財產規劃之權利</a:t>
            </a:r>
            <a:endParaRPr lang="en-US" altLang="zh-TW" dirty="0">
              <a:latin typeface="PMingLiU" panose="02020500000000000000" pitchFamily="18" charset="-120"/>
              <a:ea typeface="PMingLiU" panose="02020500000000000000" pitchFamily="18" charset="-120"/>
            </a:endParaRPr>
          </a:p>
          <a:p>
            <a:r>
              <a:rPr lang="zh-TW" altLang="zh-TW" dirty="0">
                <a:latin typeface="PMingLiU" panose="02020500000000000000" pitchFamily="18" charset="-120"/>
                <a:ea typeface="PMingLiU" panose="02020500000000000000" pitchFamily="18" charset="-120"/>
              </a:rPr>
              <a:t>學說之見解認為，應透過立法上之方式，在遺贈稅法上以明確之規範</a:t>
            </a:r>
            <a:r>
              <a:rPr lang="zh-TW" altLang="zh-TW" dirty="0">
                <a:solidFill>
                  <a:srgbClr val="FF0000"/>
                </a:solidFill>
                <a:latin typeface="PMingLiU" panose="02020500000000000000" pitchFamily="18" charset="-120"/>
                <a:ea typeface="PMingLiU" panose="02020500000000000000" pitchFamily="18" charset="-120"/>
              </a:rPr>
              <a:t>正面</a:t>
            </a:r>
            <a:r>
              <a:rPr lang="zh-TW" altLang="zh-TW" dirty="0">
                <a:latin typeface="PMingLiU" panose="02020500000000000000" pitchFamily="18" charset="-120"/>
                <a:ea typeface="PMingLiU" panose="02020500000000000000" pitchFamily="18" charset="-120"/>
              </a:rPr>
              <a:t>訂定人壽保險適度的合理金額上限或免稅之要件，以從源頭上解決問題。</a:t>
            </a:r>
          </a:p>
          <a:p>
            <a:endParaRPr lang="zh-TW" altLang="zh-TW" dirty="0"/>
          </a:p>
          <a:p>
            <a:endParaRPr lang="zh-TW" altLang="zh-TW" dirty="0"/>
          </a:p>
          <a:p>
            <a:endParaRPr lang="zh-TW" altLang="zh-TW" dirty="0"/>
          </a:p>
          <a:p>
            <a:endParaRPr lang="zh-TW" altLang="en-US" dirty="0"/>
          </a:p>
        </p:txBody>
      </p:sp>
    </p:spTree>
    <p:extLst>
      <p:ext uri="{BB962C8B-B14F-4D97-AF65-F5344CB8AC3E}">
        <p14:creationId xmlns:p14="http://schemas.microsoft.com/office/powerpoint/2010/main" val="2183514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EE17E6-E62B-568D-8175-94C027FDD79C}"/>
              </a:ext>
            </a:extLst>
          </p:cNvPr>
          <p:cNvSpPr>
            <a:spLocks noGrp="1"/>
          </p:cNvSpPr>
          <p:nvPr>
            <p:ph type="title"/>
          </p:nvPr>
        </p:nvSpPr>
        <p:spPr/>
        <p:txBody>
          <a:bodyPr/>
          <a:lstStyle/>
          <a:p>
            <a:r>
              <a:rPr lang="zh-TW" altLang="en-US" dirty="0"/>
              <a:t>結論</a:t>
            </a:r>
          </a:p>
        </p:txBody>
      </p:sp>
      <p:sp>
        <p:nvSpPr>
          <p:cNvPr id="3" name="內容版面配置區 2">
            <a:extLst>
              <a:ext uri="{FF2B5EF4-FFF2-40B4-BE49-F238E27FC236}">
                <a16:creationId xmlns:a16="http://schemas.microsoft.com/office/drawing/2014/main" id="{5F03D8DA-0443-850F-D1B1-C270CF09C75D}"/>
              </a:ext>
            </a:extLst>
          </p:cNvPr>
          <p:cNvSpPr>
            <a:spLocks noGrp="1"/>
          </p:cNvSpPr>
          <p:nvPr>
            <p:ph idx="1"/>
          </p:nvPr>
        </p:nvSpPr>
        <p:spPr/>
        <p:txBody>
          <a:bodyPr>
            <a:normAutofit lnSpcReduction="10000"/>
          </a:bodyPr>
          <a:lstStyle/>
          <a:p>
            <a:r>
              <a:rPr lang="zh-CN" altLang="zh-TW" dirty="0">
                <a:latin typeface="+mn-ea"/>
              </a:rPr>
              <a:t>納稅義務人以違背稅法規範目的之方式</a:t>
            </a:r>
            <a:r>
              <a:rPr lang="zh-TW" altLang="en-US" dirty="0">
                <a:latin typeface="+mn-ea"/>
              </a:rPr>
              <a:t>、</a:t>
            </a:r>
            <a:r>
              <a:rPr lang="zh-CN" altLang="zh-TW" dirty="0">
                <a:latin typeface="+mn-ea"/>
              </a:rPr>
              <a:t>濫用私法行為自由獲得稅捐利益，即須以實質課稅原則調整應負擔之稅負，以符合量能課稅原則要求</a:t>
            </a:r>
            <a:r>
              <a:rPr lang="zh-TW" altLang="en-US" dirty="0">
                <a:latin typeface="+mn-ea"/>
              </a:rPr>
              <a:t>，</a:t>
            </a:r>
            <a:r>
              <a:rPr lang="zh-CN" altLang="zh-TW" dirty="0">
                <a:latin typeface="+mn-ea"/>
              </a:rPr>
              <a:t>雖冠以人壽保險之名，但其保險之內容卻不具有人壽保險之定額性時，仍不得適用該條而免稅</a:t>
            </a:r>
            <a:endParaRPr lang="en-US" altLang="zh-CN" dirty="0">
              <a:latin typeface="+mn-ea"/>
            </a:endParaRPr>
          </a:p>
          <a:p>
            <a:r>
              <a:rPr lang="zh-CN" altLang="zh-TW" dirty="0">
                <a:latin typeface="+mn-ea"/>
              </a:rPr>
              <a:t>納稅義務人主觀上是否具有稅捐規避之故意，以及納稅義務人獲取之不當稅捐利益之數額，應考量時代的背景及經濟環境之發展</a:t>
            </a:r>
            <a:r>
              <a:rPr lang="zh-TW" altLang="en-US" dirty="0">
                <a:latin typeface="+mn-ea"/>
              </a:rPr>
              <a:t>，</a:t>
            </a:r>
            <a:r>
              <a:rPr lang="zh-CN" altLang="zh-TW" dirty="0">
                <a:latin typeface="+mn-ea"/>
              </a:rPr>
              <a:t>本件</a:t>
            </a:r>
            <a:r>
              <a:rPr lang="zh-TW" altLang="en-US" dirty="0">
                <a:latin typeface="+mn-ea"/>
              </a:rPr>
              <a:t>甲</a:t>
            </a:r>
            <a:r>
              <a:rPr lang="zh-CN" altLang="zh-TW" dirty="0">
                <a:latin typeface="+mn-ea"/>
              </a:rPr>
              <a:t>之人壽保險契約訂立於民國</a:t>
            </a:r>
            <a:r>
              <a:rPr lang="en-US" altLang="zh-TW" dirty="0">
                <a:latin typeface="+mn-ea"/>
              </a:rPr>
              <a:t>88</a:t>
            </a:r>
            <a:r>
              <a:rPr lang="zh-CN" altLang="zh-TW" dirty="0">
                <a:latin typeface="+mn-ea"/>
              </a:rPr>
              <a:t>年</a:t>
            </a:r>
            <a:r>
              <a:rPr lang="zh-TW" altLang="en-US" dirty="0">
                <a:latin typeface="+mn-ea"/>
              </a:rPr>
              <a:t>，定期利率高達</a:t>
            </a:r>
            <a:r>
              <a:rPr lang="en-US" altLang="zh-TW" dirty="0">
                <a:latin typeface="+mn-ea"/>
              </a:rPr>
              <a:t>5%</a:t>
            </a:r>
            <a:r>
              <a:rPr lang="zh-TW" altLang="en-US" dirty="0">
                <a:latin typeface="+mn-ea"/>
              </a:rPr>
              <a:t>，</a:t>
            </a:r>
            <a:r>
              <a:rPr lang="zh-CN" altLang="zh-TW" dirty="0">
                <a:latin typeface="+mn-ea"/>
              </a:rPr>
              <a:t>高於同時期定期存款可獲得之利益，於此部分之上，始得依實質課稅原則調整</a:t>
            </a:r>
            <a:endParaRPr lang="zh-TW" altLang="en-US" dirty="0">
              <a:latin typeface="+mn-ea"/>
            </a:endParaRPr>
          </a:p>
        </p:txBody>
      </p:sp>
    </p:spTree>
    <p:extLst>
      <p:ext uri="{BB962C8B-B14F-4D97-AF65-F5344CB8AC3E}">
        <p14:creationId xmlns:p14="http://schemas.microsoft.com/office/powerpoint/2010/main" val="3286035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BAF4D6-4921-320B-4787-64B9E1C8D3E6}"/>
              </a:ext>
            </a:extLst>
          </p:cNvPr>
          <p:cNvSpPr>
            <a:spLocks noGrp="1"/>
          </p:cNvSpPr>
          <p:nvPr>
            <p:ph type="title"/>
          </p:nvPr>
        </p:nvSpPr>
        <p:spPr/>
        <p:txBody>
          <a:bodyPr/>
          <a:lstStyle/>
          <a:p>
            <a:r>
              <a:rPr lang="zh-TW" altLang="en-US" dirty="0"/>
              <a:t>結論</a:t>
            </a:r>
          </a:p>
        </p:txBody>
      </p:sp>
      <p:sp>
        <p:nvSpPr>
          <p:cNvPr id="3" name="內容版面配置區 2">
            <a:extLst>
              <a:ext uri="{FF2B5EF4-FFF2-40B4-BE49-F238E27FC236}">
                <a16:creationId xmlns:a16="http://schemas.microsoft.com/office/drawing/2014/main" id="{482B205B-1B23-9747-BE0E-6C7A476E5085}"/>
              </a:ext>
            </a:extLst>
          </p:cNvPr>
          <p:cNvSpPr>
            <a:spLocks noGrp="1"/>
          </p:cNvSpPr>
          <p:nvPr>
            <p:ph idx="1"/>
          </p:nvPr>
        </p:nvSpPr>
        <p:spPr/>
        <p:txBody>
          <a:bodyPr>
            <a:normAutofit fontScale="92500" lnSpcReduction="20000"/>
          </a:bodyPr>
          <a:lstStyle/>
          <a:p>
            <a:r>
              <a:rPr lang="zh-CN" altLang="zh-TW" dirty="0">
                <a:latin typeface="+mj-lt"/>
                <a:ea typeface="BIZ UDGothic" panose="020B0400000000000000" pitchFamily="33" charset="-128"/>
              </a:rPr>
              <a:t>稅捐規劃上節稅</a:t>
            </a:r>
            <a:r>
              <a:rPr lang="en-US" altLang="zh-TW" dirty="0">
                <a:latin typeface="+mj-lt"/>
                <a:ea typeface="BIZ UDGothic" panose="020B0400000000000000" pitchFamily="33" charset="-128"/>
              </a:rPr>
              <a:t>/</a:t>
            </a:r>
            <a:r>
              <a:rPr lang="zh-CN" altLang="zh-TW" dirty="0">
                <a:latin typeface="+mj-lt"/>
                <a:ea typeface="BIZ UDGothic" panose="020B0400000000000000" pitchFamily="33" charset="-128"/>
              </a:rPr>
              <a:t>避稅</a:t>
            </a:r>
            <a:r>
              <a:rPr lang="en-US" altLang="zh-TW" dirty="0">
                <a:latin typeface="+mj-lt"/>
                <a:ea typeface="BIZ UDGothic" panose="020B0400000000000000" pitchFamily="33" charset="-128"/>
              </a:rPr>
              <a:t>/</a:t>
            </a:r>
            <a:r>
              <a:rPr lang="zh-CN" altLang="zh-TW" dirty="0">
                <a:latin typeface="+mj-lt"/>
                <a:ea typeface="BIZ UDGothic" panose="020B0400000000000000" pitchFamily="33" charset="-128"/>
              </a:rPr>
              <a:t>逃漏稅捐三分法為學說、德國實務上公認之方法，可以正確辨明何時應適用實質課稅原則，納稅義務人之行為何時具備可罰性等，具有明確性</a:t>
            </a:r>
            <a:endParaRPr lang="en-US" altLang="zh-CN" dirty="0">
              <a:latin typeface="+mj-lt"/>
              <a:ea typeface="BIZ UDGothic" panose="020B0400000000000000" pitchFamily="33" charset="-128"/>
            </a:endParaRPr>
          </a:p>
          <a:p>
            <a:r>
              <a:rPr lang="zh-CN" altLang="zh-TW" dirty="0">
                <a:latin typeface="+mj-lt"/>
                <a:ea typeface="BIZ UDGothic" panose="020B0400000000000000" pitchFamily="33" charset="-128"/>
              </a:rPr>
              <a:t>實質課稅原則並非「原則」，而係於例外具有認定稅捐規避時始會適用</a:t>
            </a:r>
            <a:r>
              <a:rPr lang="zh-TW" altLang="en-US" dirty="0">
                <a:latin typeface="+mj-lt"/>
                <a:ea typeface="BIZ UDGothic" panose="020B0400000000000000" pitchFamily="33" charset="-128"/>
              </a:rPr>
              <a:t>；</a:t>
            </a:r>
            <a:r>
              <a:rPr lang="zh-CN" altLang="zh-TW" dirty="0">
                <a:latin typeface="+mj-lt"/>
                <a:ea typeface="BIZ UDGothic" panose="020B0400000000000000" pitchFamily="33" charset="-128"/>
              </a:rPr>
              <a:t>又適用實質課稅原則時，應注意其解釋範圍不可過度侵害稅捐法定原則</a:t>
            </a:r>
            <a:r>
              <a:rPr lang="zh-TW" altLang="en-US" dirty="0">
                <a:latin typeface="+mj-lt"/>
                <a:ea typeface="BIZ UDGothic" panose="020B0400000000000000" pitchFamily="33" charset="-128"/>
              </a:rPr>
              <a:t>，且</a:t>
            </a:r>
            <a:r>
              <a:rPr lang="zh-CN" altLang="zh-TW" dirty="0">
                <a:latin typeface="+mj-lt"/>
                <a:ea typeface="BIZ UDGothic" panose="020B0400000000000000" pitchFamily="33" charset="-128"/>
              </a:rPr>
              <a:t>考量遺贈稅法除了財政目的外，亦具有</a:t>
            </a:r>
            <a:r>
              <a:rPr lang="zh-TW" altLang="en-US" dirty="0">
                <a:latin typeface="+mj-lt"/>
                <a:ea typeface="BIZ UDGothic" panose="020B0400000000000000" pitchFamily="33" charset="-128"/>
              </a:rPr>
              <a:t>其他經濟</a:t>
            </a:r>
            <a:r>
              <a:rPr lang="zh-CN" altLang="zh-TW" dirty="0">
                <a:latin typeface="+mj-lt"/>
                <a:ea typeface="BIZ UDGothic" panose="020B0400000000000000" pitchFamily="33" charset="-128"/>
              </a:rPr>
              <a:t>社會目的，</a:t>
            </a:r>
            <a:r>
              <a:rPr lang="zh-TW" altLang="en-US" dirty="0">
                <a:latin typeface="+mj-lt"/>
                <a:ea typeface="BIZ UDGothic" panose="020B0400000000000000" pitchFamily="33" charset="-128"/>
              </a:rPr>
              <a:t>需</a:t>
            </a:r>
            <a:r>
              <a:rPr lang="zh-CN" altLang="zh-TW" dirty="0">
                <a:latin typeface="+mj-lt"/>
                <a:ea typeface="BIZ UDGothic" panose="020B0400000000000000" pitchFamily="33" charset="-128"/>
              </a:rPr>
              <a:t>進行利益衡量</a:t>
            </a:r>
            <a:r>
              <a:rPr lang="zh-TW" altLang="en-US" dirty="0">
                <a:latin typeface="+mj-lt"/>
                <a:ea typeface="BIZ UDGothic" panose="020B0400000000000000" pitchFamily="33" charset="-128"/>
              </a:rPr>
              <a:t>而</a:t>
            </a:r>
            <a:r>
              <a:rPr lang="zh-CN" altLang="zh-TW" dirty="0">
                <a:latin typeface="+mj-lt"/>
                <a:ea typeface="BIZ UDGothic" panose="020B0400000000000000" pitchFamily="33" charset="-128"/>
              </a:rPr>
              <a:t>判斷</a:t>
            </a:r>
            <a:r>
              <a:rPr lang="zh-TW" altLang="en-US" dirty="0">
                <a:latin typeface="+mj-lt"/>
                <a:ea typeface="BIZ UDGothic" panose="020B0400000000000000" pitchFamily="33" charset="-128"/>
              </a:rPr>
              <a:t>是否適用</a:t>
            </a:r>
            <a:r>
              <a:rPr lang="zh-CN" altLang="zh-TW" dirty="0">
                <a:latin typeface="+mj-lt"/>
                <a:ea typeface="BIZ UDGothic" panose="020B0400000000000000" pitchFamily="33" charset="-128"/>
              </a:rPr>
              <a:t>實質課稅原則</a:t>
            </a:r>
            <a:endParaRPr lang="en-US" altLang="zh-CN" dirty="0">
              <a:latin typeface="+mj-lt"/>
              <a:ea typeface="BIZ UDGothic" panose="020B0400000000000000" pitchFamily="33" charset="-128"/>
            </a:endParaRPr>
          </a:p>
          <a:p>
            <a:r>
              <a:rPr lang="zh-CN" altLang="zh-TW" dirty="0">
                <a:latin typeface="+mj-lt"/>
                <a:ea typeface="BIZ UDGothic" panose="020B0400000000000000" pitchFamily="33" charset="-128"/>
              </a:rPr>
              <a:t>立法論上，</a:t>
            </a:r>
            <a:r>
              <a:rPr lang="zh-TW" altLang="en-US" dirty="0">
                <a:latin typeface="+mj-lt"/>
                <a:ea typeface="BIZ UDGothic" panose="020B0400000000000000" pitchFamily="33" charset="-128"/>
              </a:rPr>
              <a:t>可以</a:t>
            </a:r>
            <a:r>
              <a:rPr lang="zh-CN" altLang="zh-TW" dirty="0">
                <a:latin typeface="+mj-lt"/>
                <a:ea typeface="BIZ UDGothic" panose="020B0400000000000000" pitchFamily="33" charset="-128"/>
              </a:rPr>
              <a:t>適當的免稅額規定</a:t>
            </a:r>
            <a:r>
              <a:rPr lang="en-US" altLang="zh-TW" dirty="0">
                <a:latin typeface="+mj-lt"/>
                <a:ea typeface="BIZ UDGothic" panose="020B0400000000000000" pitchFamily="33" charset="-128"/>
              </a:rPr>
              <a:t>(</a:t>
            </a:r>
            <a:r>
              <a:rPr lang="zh-CN" altLang="zh-TW" dirty="0">
                <a:latin typeface="+mj-lt"/>
                <a:ea typeface="BIZ UDGothic" panose="020B0400000000000000" pitchFamily="33" charset="-128"/>
              </a:rPr>
              <a:t>參考日本法訂有繼承人數乘以保險金</a:t>
            </a:r>
            <a:r>
              <a:rPr lang="en-US" altLang="zh-TW" dirty="0">
                <a:latin typeface="+mj-lt"/>
                <a:ea typeface="BIZ UDGothic" panose="020B0400000000000000" pitchFamily="33" charset="-128"/>
              </a:rPr>
              <a:t>500</a:t>
            </a:r>
            <a:r>
              <a:rPr lang="zh-CN" altLang="zh-TW" dirty="0">
                <a:latin typeface="+mj-lt"/>
                <a:ea typeface="BIZ UDGothic" panose="020B0400000000000000" pitchFamily="33" charset="-128"/>
              </a:rPr>
              <a:t>萬日圓免稅額之限制規定</a:t>
            </a:r>
            <a:r>
              <a:rPr lang="en-US" altLang="zh-TW" dirty="0">
                <a:latin typeface="+mj-lt"/>
                <a:ea typeface="BIZ UDGothic" panose="020B0400000000000000" pitchFamily="33" charset="-128"/>
              </a:rPr>
              <a:t>)</a:t>
            </a:r>
            <a:r>
              <a:rPr lang="zh-TW" altLang="en-US" dirty="0">
                <a:latin typeface="+mj-lt"/>
                <a:ea typeface="BIZ UDGothic" panose="020B0400000000000000" pitchFamily="33" charset="-128"/>
              </a:rPr>
              <a:t>，</a:t>
            </a:r>
            <a:r>
              <a:rPr lang="zh-CN" altLang="zh-TW" dirty="0">
                <a:latin typeface="+mj-lt"/>
                <a:ea typeface="BIZ UDGothic" panose="020B0400000000000000" pitchFamily="33" charset="-128"/>
              </a:rPr>
              <a:t>取代個案利用實質課稅原則判斷的不確定性，亦給予納稅義務人明確的稅務安排空間</a:t>
            </a:r>
            <a:endParaRPr lang="zh-TW" altLang="en-US" dirty="0">
              <a:latin typeface="+mj-lt"/>
              <a:ea typeface="BIZ UDGothic" panose="020B0400000000000000" pitchFamily="33" charset="-128"/>
            </a:endParaRPr>
          </a:p>
        </p:txBody>
      </p:sp>
    </p:spTree>
    <p:extLst>
      <p:ext uri="{BB962C8B-B14F-4D97-AF65-F5344CB8AC3E}">
        <p14:creationId xmlns:p14="http://schemas.microsoft.com/office/powerpoint/2010/main" val="2911318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612E5215-2D30-4674-B035-42B84CF4E7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cxnSp>
        <p:nvCxnSpPr>
          <p:cNvPr id="24" name="Straight Connector 23">
            <a:extLst>
              <a:ext uri="{FF2B5EF4-FFF2-40B4-BE49-F238E27FC236}">
                <a16:creationId xmlns:a16="http://schemas.microsoft.com/office/drawing/2014/main" id="{B38567EC-BA84-4C6C-AC2C-E07382B106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pic>
        <p:nvPicPr>
          <p:cNvPr id="26" name="Picture 25">
            <a:extLst>
              <a:ext uri="{FF2B5EF4-FFF2-40B4-BE49-F238E27FC236}">
                <a16:creationId xmlns:a16="http://schemas.microsoft.com/office/drawing/2014/main" id="{E8BC76F0-0E80-4443-B35E-DF38023975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 name="文字方塊 3">
            <a:extLst>
              <a:ext uri="{FF2B5EF4-FFF2-40B4-BE49-F238E27FC236}">
                <a16:creationId xmlns:a16="http://schemas.microsoft.com/office/drawing/2014/main" id="{D9E1992D-9FFE-E86F-DFD9-544411A5F3C1}"/>
              </a:ext>
            </a:extLst>
          </p:cNvPr>
          <p:cNvSpPr txBox="1"/>
          <p:nvPr/>
        </p:nvSpPr>
        <p:spPr>
          <a:xfrm>
            <a:off x="6553770" y="1041401"/>
            <a:ext cx="4538526" cy="2345264"/>
          </a:xfrm>
          <a:prstGeom prst="rect">
            <a:avLst/>
          </a:prstGeom>
        </p:spPr>
        <p:txBody>
          <a:bodyPr vert="horz" lIns="91440" tIns="45720" rIns="91440" bIns="45720" rtlCol="0" anchor="b">
            <a:normAutofit/>
          </a:bodyPr>
          <a:lstStyle/>
          <a:p>
            <a:pPr algn="ctr">
              <a:spcBef>
                <a:spcPct val="0"/>
              </a:spcBef>
              <a:spcAft>
                <a:spcPts val="600"/>
              </a:spcAft>
            </a:pPr>
            <a:r>
              <a:rPr lang="en-US" altLang="zh-TW" sz="5400">
                <a:ln w="3175" cmpd="sng">
                  <a:noFill/>
                </a:ln>
                <a:solidFill>
                  <a:schemeClr val="tx1">
                    <a:lumMod val="85000"/>
                    <a:lumOff val="15000"/>
                  </a:schemeClr>
                </a:solidFill>
                <a:latin typeface="+mj-lt"/>
                <a:ea typeface="+mj-ea"/>
                <a:cs typeface="+mj-cs"/>
              </a:rPr>
              <a:t>Thanks for your listening </a:t>
            </a:r>
          </a:p>
        </p:txBody>
      </p:sp>
      <p:sp>
        <p:nvSpPr>
          <p:cNvPr id="28" name="Rectangle 27">
            <a:extLst>
              <a:ext uri="{FF2B5EF4-FFF2-40B4-BE49-F238E27FC236}">
                <a16:creationId xmlns:a16="http://schemas.microsoft.com/office/drawing/2014/main" id="{89ED9B58-85C3-470F-B856-89F94D5BF3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4" y="1092200"/>
            <a:ext cx="4976494"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圖片 5" descr="一張含有 熊, 美工圖案, 動畫卡通, 卡通 的圖片&#10;&#10;AI 產生的內容可能不正確。">
            <a:extLst>
              <a:ext uri="{FF2B5EF4-FFF2-40B4-BE49-F238E27FC236}">
                <a16:creationId xmlns:a16="http://schemas.microsoft.com/office/drawing/2014/main" id="{FD3AA0D5-BF32-010C-4B80-4DD54A3DE7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57755" y="1410208"/>
            <a:ext cx="3858780" cy="3858780"/>
          </a:xfrm>
          <a:prstGeom prst="rect">
            <a:avLst/>
          </a:prstGeom>
        </p:spPr>
      </p:pic>
      <p:cxnSp>
        <p:nvCxnSpPr>
          <p:cNvPr id="30" name="Straight Connector 29">
            <a:extLst>
              <a:ext uri="{FF2B5EF4-FFF2-40B4-BE49-F238E27FC236}">
                <a16:creationId xmlns:a16="http://schemas.microsoft.com/office/drawing/2014/main" id="{906654BF-00E5-4DD8-9543-3C20C781052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770" y="3522131"/>
            <a:ext cx="452063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86020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496084-84F6-573C-70A6-A4E415E86C3B}"/>
              </a:ext>
            </a:extLst>
          </p:cNvPr>
          <p:cNvSpPr>
            <a:spLocks noGrp="1"/>
          </p:cNvSpPr>
          <p:nvPr>
            <p:ph type="title"/>
          </p:nvPr>
        </p:nvSpPr>
        <p:spPr/>
        <p:txBody>
          <a:bodyPr/>
          <a:lstStyle/>
          <a:p>
            <a:pPr algn="l"/>
            <a:r>
              <a:rPr lang="zh-TW" altLang="en-US" dirty="0"/>
              <a:t>與談時間</a:t>
            </a:r>
          </a:p>
        </p:txBody>
      </p:sp>
      <p:pic>
        <p:nvPicPr>
          <p:cNvPr id="5" name="圖片 4" descr="一張含有 哺乳動物, 貓, 小型到中型大小的貓, 室內 的圖片&#10;&#10;AI 產生的內容可能不正確。">
            <a:extLst>
              <a:ext uri="{FF2B5EF4-FFF2-40B4-BE49-F238E27FC236}">
                <a16:creationId xmlns:a16="http://schemas.microsoft.com/office/drawing/2014/main" id="{8CFC71AF-231C-2EB6-1584-56FFD2B796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6936" y="2623427"/>
            <a:ext cx="3057525" cy="2962275"/>
          </a:xfrm>
          <a:prstGeom prst="rect">
            <a:avLst/>
          </a:prstGeom>
        </p:spPr>
      </p:pic>
      <p:pic>
        <p:nvPicPr>
          <p:cNvPr id="7" name="圖片 6" descr="一張含有 圖形, 字型, 平面設計, 標誌 的圖片">
            <a:extLst>
              <a:ext uri="{FF2B5EF4-FFF2-40B4-BE49-F238E27FC236}">
                <a16:creationId xmlns:a16="http://schemas.microsoft.com/office/drawing/2014/main" id="{CF2328E8-1E8D-84DA-3891-56F9261F82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0949" y="2715654"/>
            <a:ext cx="4056672" cy="2538734"/>
          </a:xfrm>
          <a:prstGeom prst="rect">
            <a:avLst/>
          </a:prstGeom>
        </p:spPr>
      </p:pic>
    </p:spTree>
    <p:extLst>
      <p:ext uri="{BB962C8B-B14F-4D97-AF65-F5344CB8AC3E}">
        <p14:creationId xmlns:p14="http://schemas.microsoft.com/office/powerpoint/2010/main" val="421803786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有機">
  <a:themeElements>
    <a:clrScheme name="有機">
      <a:dk1>
        <a:sysClr val="windowText" lastClr="000000"/>
      </a:dk1>
      <a:lt1>
        <a:sysClr val="window" lastClr="FFFFFF"/>
      </a:lt1>
      <a:dk2>
        <a:srgbClr val="212121"/>
      </a:dk2>
      <a:lt2>
        <a:srgbClr val="DADADA"/>
      </a:lt2>
      <a:accent1>
        <a:srgbClr val="AB946B"/>
      </a:accent1>
      <a:accent2>
        <a:srgbClr val="C04F32"/>
      </a:accent2>
      <a:accent3>
        <a:srgbClr val="DD8C3C"/>
      </a:accent3>
      <a:accent4>
        <a:srgbClr val="8E684C"/>
      </a:accent4>
      <a:accent5>
        <a:srgbClr val="CBAF62"/>
      </a:accent5>
      <a:accent6>
        <a:srgbClr val="803348"/>
      </a:accent6>
      <a:hlink>
        <a:srgbClr val="86724D"/>
      </a:hlink>
      <a:folHlink>
        <a:srgbClr val="B99E84"/>
      </a:folHlink>
    </a:clrScheme>
    <a:fontScheme name="有機">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有機">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A2BEDC8B-F191-493B-BA33-0F4F800A89D3}"/>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1401F471D57A5429EB8B99DDCAEE660" ma:contentTypeVersion="4" ma:contentTypeDescription="Create a new document." ma:contentTypeScope="" ma:versionID="ad3b07536307c056f3f0832face09087">
  <xsd:schema xmlns:xsd="http://www.w3.org/2001/XMLSchema" xmlns:xs="http://www.w3.org/2001/XMLSchema" xmlns:p="http://schemas.microsoft.com/office/2006/metadata/properties" xmlns:ns3="003107b8-acf5-4ccf-a95f-8a937dc6a7d1" targetNamespace="http://schemas.microsoft.com/office/2006/metadata/properties" ma:root="true" ma:fieldsID="cac8299186d4ee5195798e07a2cecfe6" ns3:_="">
    <xsd:import namespace="003107b8-acf5-4ccf-a95f-8a937dc6a7d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3107b8-acf5-4ccf-a95f-8a937dc6a7d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9C2DA9-A48F-4EB5-A495-3C7B9832193E}">
  <ds:schemaRefs>
    <ds:schemaRef ds:uri="http://schemas.microsoft.com/office/2006/metadata/properties"/>
    <ds:schemaRef ds:uri="http://purl.org/dc/terms/"/>
    <ds:schemaRef ds:uri="http://www.w3.org/XML/1998/namespace"/>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003107b8-acf5-4ccf-a95f-8a937dc6a7d1"/>
    <ds:schemaRef ds:uri="http://purl.org/dc/dcmitype/"/>
  </ds:schemaRefs>
</ds:datastoreItem>
</file>

<file path=customXml/itemProps2.xml><?xml version="1.0" encoding="utf-8"?>
<ds:datastoreItem xmlns:ds="http://schemas.openxmlformats.org/officeDocument/2006/customXml" ds:itemID="{26F67465-16FB-4BC2-A925-C54C0CB00E93}">
  <ds:schemaRefs>
    <ds:schemaRef ds:uri="http://schemas.microsoft.com/sharepoint/v3/contenttype/forms"/>
  </ds:schemaRefs>
</ds:datastoreItem>
</file>

<file path=customXml/itemProps3.xml><?xml version="1.0" encoding="utf-8"?>
<ds:datastoreItem xmlns:ds="http://schemas.openxmlformats.org/officeDocument/2006/customXml" ds:itemID="{E62A1770-9FCE-41DF-A428-C35DD2A4AD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3107b8-acf5-4ccf-a95f-8a937dc6a7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Organic</Template>
  <TotalTime>962</TotalTime>
  <Words>2812</Words>
  <Application>Microsoft Office PowerPoint</Application>
  <PresentationFormat>寬螢幕</PresentationFormat>
  <Paragraphs>110</Paragraphs>
  <Slides>28</Slides>
  <Notes>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28</vt:i4>
      </vt:variant>
    </vt:vector>
  </HeadingPairs>
  <TitlesOfParts>
    <vt:vector size="33" baseType="lpstr">
      <vt:lpstr>PMingLiU</vt:lpstr>
      <vt:lpstr>Aptos</vt:lpstr>
      <vt:lpstr>Arial</vt:lpstr>
      <vt:lpstr>Garamond</vt:lpstr>
      <vt:lpstr>有機</vt:lpstr>
      <vt:lpstr>人壽保險給付的稅捐規避與實質課稅原則的適用   ──評最高行政法院102年度判字第227號判決</vt:lpstr>
      <vt:lpstr>大綱</vt:lpstr>
      <vt:lpstr>本件事實摘要</vt:lpstr>
      <vt:lpstr>甲的壽險保單由三部分構成</vt:lpstr>
      <vt:lpstr>本件所涉爭點 </vt:lpstr>
      <vt:lpstr>台中高等行政法院見解</vt:lpstr>
      <vt:lpstr>最高行政法院見解</vt:lpstr>
      <vt:lpstr>本文評析</vt:lpstr>
      <vt:lpstr>稅捐規避行為與實質課稅原則的意義</vt:lpstr>
      <vt:lpstr>稅捐規避行為的構成要件:納保法7條三項前段規定</vt:lpstr>
      <vt:lpstr>1.本案甲購買該保險增值之部分，應構成稅捐規避行為 </vt:lpstr>
      <vt:lpstr>1.本案甲購買該保險增值之部分，應構成稅捐規避行為 </vt:lpstr>
      <vt:lpstr>稅捐規避行為之法律效果</vt:lpstr>
      <vt:lpstr>2.應適用實質課稅原則調整稅負，但決定不計入遺產總額之保險給付時應考量市場定存之利率</vt:lpstr>
      <vt:lpstr>2.應適用實質課稅原則調整稅負，但決定不計入遺產總額之保險給付時應考量市場定存之利率</vt:lpstr>
      <vt:lpstr>3.最高行政法院、高等法院對於實質課稅原則與稅捐規避行為間的關係，以及稅捐規避行為是否具有可罰性之見解有待商榷</vt:lpstr>
      <vt:lpstr>最高法院見解應有待商榷</vt:lpstr>
      <vt:lpstr>4.從人壽保險上看實質課稅原則與稅捐法定主義間的關係以及解釋適用 </vt:lpstr>
      <vt:lpstr>稅捐法律之制定上，立法者有廣泛的形成空間</vt:lpstr>
      <vt:lpstr>遺贈稅法之立法目的除了財政目的外，更包括平均社會財富與吸引境外資金回流、振興經濟之目的</vt:lpstr>
      <vt:lpstr>適用實質課稅原則調整稅負時，即應通盤考量上述目的</vt:lpstr>
      <vt:lpstr>實質課稅原則之適用應尊重稅捐法定原則</vt:lpstr>
      <vt:lpstr>實質課稅原則之適用應尊重稅捐法定原則</vt:lpstr>
      <vt:lpstr>保險法上個案調整模式，並非防杜保險規避稅捐之妥適規範模式 </vt:lpstr>
      <vt:lpstr>結論</vt:lpstr>
      <vt:lpstr>結論</vt:lpstr>
      <vt:lpstr>PowerPoint 簡報</vt:lpstr>
      <vt:lpstr>與談時間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張喆</dc:creator>
  <cp:lastModifiedBy>張喆</cp:lastModifiedBy>
  <cp:revision>2</cp:revision>
  <dcterms:created xsi:type="dcterms:W3CDTF">2025-12-14T15:24:00Z</dcterms:created>
  <dcterms:modified xsi:type="dcterms:W3CDTF">2025-12-17T19:05:51Z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0x010100D1401F471D57A5429EB8B99DDCAEE660</vt:lpwstr>
  </property>
</Properties>
</file>